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seconds. Hello, I am Fatma Çakir. I built a machine learning project to predict the recorded presence of heart disease based on routine clinical measurements. I will focus on what the model learned and what the results tell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The question was whether 11 measurements could help us predict a binary heart disease label. These include age, cholesterol, blood pressure, chest pain type, ECG and exercise-related variables. This is classification, because we predict one of two categories.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seconds. The data contains 918 records: 508 with the heart disease label and 410 without it. This provides examples for both classes, although the dataset is not large enough to assume clinical generalizability.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 seconds. A key challenge was data quality. I found 172 zero cholesterol measurements and one zero resting blood pressure measurement. I treated these as missing values and applied imputation inside the model pipeline, helping avoid leakage into the held-out test data. I also encoded categorical variables.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 seconds. I compared a majority-class baseline, Logistic Regression and Random Forest using five-fold cross-validation. The baseline accuracy was about 55%. Logistic Regression achieved 85.7%, and Random Forest 85.3%. This showed that both learned meaningful signals compared with simply predicting the majority class.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I used GridSearchCV to tune the Random Forest. It tried combinations of tree depth, number of trees and other settings, using five-fold validation. The best cross-validation ROC-AUC was approximately 0.933. The final test set remained separate until evaluation.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On the held-out test set the tuned Random Forest achieved 89.1% accuracy, 94.1% recall and a ROC-AUC of 0.938. Recall is especially important in this context because missing positive cases could have serious implications. These numbers are encouraging for a classroom project, not evidence of diagnostic readiness.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seconds. Here the confusion matrix reveals both correct predictions and errors. The ROC curve shows how well the model separates the two groups across different decision thresholds. Even with high recall, the model can still miss positive patients. That makes error analysis crucial.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 seconds. The model learned meaningful patterns, but performance on one dataset does not automatically transfer to patients in real hospitals. I would need external validation, fairness checks, probability calibration and medical oversight before considering any real-world 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seconds. In conclusion, the tuned Random Forest performed strongly on this dataset, especially for recall. My main lesson is that machine learning is not just about optimizing scores; it is also about understanding the data, model errors and limitations.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058400" cy="320040"/>
          </a:xfrm>
          <a:prstGeom prst="rect">
            <a:avLst/>
          </a:prstGeom>
          <a:noFill/>
        </p:spPr>
        <p:txBody>
          <a:bodyPr wrap="square">
            <a:spAutoFit/>
          </a:bodyPr>
          <a:lstStyle/>
          <a:p>
            <a:pPr>
              <a:spcAft>
                <a:spcPts val="1200"/>
              </a:spcAft>
              <a:defRPr sz="1200" b="1">
                <a:solidFill>
                  <a:srgbClr val="D13A8B"/>
                </a:solidFill>
                <a:latin typeface="Aptos"/>
              </a:defRPr>
            </a:pPr>
            <a:r>
              <a:t>THE QUESTION</a:t>
            </a:r>
          </a:p>
        </p:txBody>
      </p:sp>
      <p:sp>
        <p:nvSpPr>
          <p:cNvPr id="5" name="TextBox 4"/>
          <p:cNvSpPr txBox="1"/>
          <p:nvPr/>
        </p:nvSpPr>
        <p:spPr>
          <a:xfrm>
            <a:off x="594360" y="749808"/>
            <a:ext cx="10972800" cy="914400"/>
          </a:xfrm>
          <a:prstGeom prst="rect">
            <a:avLst/>
          </a:prstGeom>
          <a:noFill/>
        </p:spPr>
        <p:txBody>
          <a:bodyPr wrap="square">
            <a:spAutoFit/>
          </a:bodyPr>
          <a:lstStyle/>
          <a:p>
            <a:pPr>
              <a:spcAft>
                <a:spcPts val="1200"/>
              </a:spcAft>
              <a:defRPr sz="3400" b="1">
                <a:solidFill>
                  <a:srgbClr val="301C3F"/>
                </a:solidFill>
                <a:latin typeface="Aptos"/>
              </a:defRPr>
            </a:pPr>
            <a:r>
              <a:t>Can I predict heart disease?</a:t>
            </a:r>
          </a:p>
        </p:txBody>
      </p:sp>
      <p:sp>
        <p:nvSpPr>
          <p:cNvPr id="6" name="TextBox 5"/>
          <p:cNvSpPr txBox="1"/>
          <p:nvPr/>
        </p:nvSpPr>
        <p:spPr>
          <a:xfrm>
            <a:off x="640080" y="1609344"/>
            <a:ext cx="10881360" cy="594360"/>
          </a:xfrm>
          <a:prstGeom prst="rect">
            <a:avLst/>
          </a:prstGeom>
          <a:noFill/>
        </p:spPr>
        <p:txBody>
          <a:bodyPr wrap="square">
            <a:spAutoFit/>
          </a:bodyPr>
          <a:lstStyle/>
          <a:p>
            <a:pPr>
              <a:spcAft>
                <a:spcPts val="1200"/>
              </a:spcAft>
              <a:defRPr sz="1700" b="0">
                <a:solidFill>
                  <a:srgbClr val="65556C"/>
                </a:solidFill>
                <a:latin typeface="Aptos"/>
              </a:defRPr>
            </a:pPr>
            <a:r>
              <a:t>Using clinical measurements to identify patterns in 918 patient records.</a:t>
            </a:r>
          </a:p>
        </p:txBody>
      </p:sp>
      <p:sp>
        <p:nvSpPr>
          <p:cNvPr id="7" name="Rectangle 6"/>
          <p:cNvSpPr/>
          <p:nvPr/>
        </p:nvSpPr>
        <p:spPr>
          <a:xfrm>
            <a:off x="640080" y="6510528"/>
            <a:ext cx="10908792" cy="13716"/>
          </a:xfrm>
          <a:prstGeom prst="rect">
            <a:avLst/>
          </a:prstGeom>
          <a:solidFill>
            <a:srgbClr val="EAC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556248"/>
            <a:ext cx="7315200" cy="182880"/>
          </a:xfrm>
          <a:prstGeom prst="rect">
            <a:avLst/>
          </a:prstGeom>
          <a:noFill/>
        </p:spPr>
        <p:txBody>
          <a:bodyPr wrap="square">
            <a:spAutoFit/>
          </a:bodyPr>
          <a:lstStyle/>
          <a:p>
            <a:pPr>
              <a:spcAft>
                <a:spcPts val="1200"/>
              </a:spcAft>
              <a:defRPr sz="1000" b="0">
                <a:solidFill>
                  <a:srgbClr val="65556C"/>
                </a:solidFill>
                <a:latin typeface="Aptos"/>
              </a:defRPr>
            </a:pPr>
            <a:r>
              <a:t>FATMA ÇAKIR  •  HEART DISEASE PREDICTION</a:t>
            </a:r>
          </a:p>
        </p:txBody>
      </p:sp>
      <p:sp>
        <p:nvSpPr>
          <p:cNvPr id="9" name="TextBox 8"/>
          <p:cNvSpPr txBox="1"/>
          <p:nvPr/>
        </p:nvSpPr>
        <p:spPr>
          <a:xfrm>
            <a:off x="11018520" y="6556248"/>
            <a:ext cx="457200" cy="182880"/>
          </a:xfrm>
          <a:prstGeom prst="rect">
            <a:avLst/>
          </a:prstGeom>
          <a:noFill/>
        </p:spPr>
        <p:txBody>
          <a:bodyPr wrap="square">
            <a:spAutoFit/>
          </a:bodyPr>
          <a:lstStyle/>
          <a:p>
            <a:pPr>
              <a:spcAft>
                <a:spcPts val="1200"/>
              </a:spcAft>
              <a:defRPr sz="1000" b="0">
                <a:solidFill>
                  <a:srgbClr val="65556C"/>
                </a:solidFill>
                <a:latin typeface="Aptos"/>
              </a:defRPr>
            </a:pPr>
            <a:r>
              <a:t>01</a:t>
            </a:r>
          </a:p>
        </p:txBody>
      </p:sp>
      <p:sp>
        <p:nvSpPr>
          <p:cNvPr id="10" name="Rounded Rectangle 9"/>
          <p:cNvSpPr/>
          <p:nvPr/>
        </p:nvSpPr>
        <p:spPr>
          <a:xfrm>
            <a:off x="640080" y="2496312"/>
            <a:ext cx="10881360" cy="2514600"/>
          </a:xfrm>
          <a:prstGeom prst="roundRect">
            <a:avLst/>
          </a:prstGeom>
          <a:solidFill>
            <a:srgbClr val="662E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807208"/>
            <a:ext cx="10149840" cy="1078992"/>
          </a:xfrm>
          <a:prstGeom prst="rect">
            <a:avLst/>
          </a:prstGeom>
          <a:noFill/>
        </p:spPr>
        <p:txBody>
          <a:bodyPr wrap="square">
            <a:spAutoFit/>
          </a:bodyPr>
          <a:lstStyle/>
          <a:p>
            <a:pPr>
              <a:spcAft>
                <a:spcPts val="1200"/>
              </a:spcAft>
              <a:defRPr sz="3900" b="1">
                <a:solidFill>
                  <a:srgbClr val="FFFFFF"/>
                </a:solidFill>
                <a:latin typeface="Aptos"/>
              </a:defRPr>
            </a:pPr>
            <a:r>
              <a:t>From patient data to a prediction</a:t>
            </a:r>
          </a:p>
        </p:txBody>
      </p:sp>
      <p:sp>
        <p:nvSpPr>
          <p:cNvPr id="12" name="TextBox 11"/>
          <p:cNvSpPr txBox="1"/>
          <p:nvPr/>
        </p:nvSpPr>
        <p:spPr>
          <a:xfrm>
            <a:off x="1060704" y="4069080"/>
            <a:ext cx="10058400" cy="640080"/>
          </a:xfrm>
          <a:prstGeom prst="rect">
            <a:avLst/>
          </a:prstGeom>
          <a:noFill/>
        </p:spPr>
        <p:txBody>
          <a:bodyPr wrap="square">
            <a:spAutoFit/>
          </a:bodyPr>
          <a:lstStyle/>
          <a:p>
            <a:pPr>
              <a:spcAft>
                <a:spcPts val="1200"/>
              </a:spcAft>
              <a:defRPr sz="2200" b="0">
                <a:solidFill>
                  <a:srgbClr val="F9D9EE"/>
                </a:solidFill>
                <a:latin typeface="Aptos"/>
              </a:defRPr>
            </a:pPr>
            <a:r>
              <a:t>A machine learning project by Fatma Çakir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058400" cy="320040"/>
          </a:xfrm>
          <a:prstGeom prst="rect">
            <a:avLst/>
          </a:prstGeom>
          <a:noFill/>
        </p:spPr>
        <p:txBody>
          <a:bodyPr wrap="square">
            <a:spAutoFit/>
          </a:bodyPr>
          <a:lstStyle/>
          <a:p>
            <a:pPr>
              <a:spcAft>
                <a:spcPts val="1200"/>
              </a:spcAft>
              <a:defRPr sz="1200" b="1">
                <a:solidFill>
                  <a:srgbClr val="D13A8B"/>
                </a:solidFill>
                <a:latin typeface="Aptos"/>
              </a:defRPr>
            </a:pPr>
            <a:r>
              <a:t>WHY THIS MATTERS</a:t>
            </a:r>
          </a:p>
        </p:txBody>
      </p:sp>
      <p:sp>
        <p:nvSpPr>
          <p:cNvPr id="5" name="TextBox 4"/>
          <p:cNvSpPr txBox="1"/>
          <p:nvPr/>
        </p:nvSpPr>
        <p:spPr>
          <a:xfrm>
            <a:off x="594360" y="749808"/>
            <a:ext cx="10972800" cy="914400"/>
          </a:xfrm>
          <a:prstGeom prst="rect">
            <a:avLst/>
          </a:prstGeom>
          <a:noFill/>
        </p:spPr>
        <p:txBody>
          <a:bodyPr wrap="square">
            <a:spAutoFit/>
          </a:bodyPr>
          <a:lstStyle/>
          <a:p>
            <a:pPr>
              <a:spcAft>
                <a:spcPts val="1200"/>
              </a:spcAft>
              <a:defRPr sz="3400" b="1">
                <a:solidFill>
                  <a:srgbClr val="301C3F"/>
                </a:solidFill>
                <a:latin typeface="Aptos"/>
              </a:defRPr>
            </a:pPr>
            <a:r>
              <a:t>The goal: identify patients at higher risk</a:t>
            </a:r>
          </a:p>
        </p:txBody>
      </p:sp>
      <p:sp>
        <p:nvSpPr>
          <p:cNvPr id="6" name="TextBox 5"/>
          <p:cNvSpPr txBox="1"/>
          <p:nvPr/>
        </p:nvSpPr>
        <p:spPr>
          <a:xfrm>
            <a:off x="640080" y="1609344"/>
            <a:ext cx="10881360" cy="594360"/>
          </a:xfrm>
          <a:prstGeom prst="rect">
            <a:avLst/>
          </a:prstGeom>
          <a:noFill/>
        </p:spPr>
        <p:txBody>
          <a:bodyPr wrap="square">
            <a:spAutoFit/>
          </a:bodyPr>
          <a:lstStyle/>
          <a:p>
            <a:pPr>
              <a:spcAft>
                <a:spcPts val="1200"/>
              </a:spcAft>
              <a:defRPr sz="1700" b="0">
                <a:solidFill>
                  <a:srgbClr val="65556C"/>
                </a:solidFill>
                <a:latin typeface="Aptos"/>
              </a:defRPr>
            </a:pPr>
            <a:r>
              <a:t>The model predicts the dataset’s HeartDisease label, not a medical diagnosis.</a:t>
            </a:r>
          </a:p>
        </p:txBody>
      </p:sp>
      <p:sp>
        <p:nvSpPr>
          <p:cNvPr id="7" name="Rectangle 6"/>
          <p:cNvSpPr/>
          <p:nvPr/>
        </p:nvSpPr>
        <p:spPr>
          <a:xfrm>
            <a:off x="640080" y="6510528"/>
            <a:ext cx="10908792" cy="13716"/>
          </a:xfrm>
          <a:prstGeom prst="rect">
            <a:avLst/>
          </a:prstGeom>
          <a:solidFill>
            <a:srgbClr val="EAC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556248"/>
            <a:ext cx="7315200" cy="182880"/>
          </a:xfrm>
          <a:prstGeom prst="rect">
            <a:avLst/>
          </a:prstGeom>
          <a:noFill/>
        </p:spPr>
        <p:txBody>
          <a:bodyPr wrap="square">
            <a:spAutoFit/>
          </a:bodyPr>
          <a:lstStyle/>
          <a:p>
            <a:pPr>
              <a:spcAft>
                <a:spcPts val="1200"/>
              </a:spcAft>
              <a:defRPr sz="1000" b="0">
                <a:solidFill>
                  <a:srgbClr val="65556C"/>
                </a:solidFill>
                <a:latin typeface="Aptos"/>
              </a:defRPr>
            </a:pPr>
            <a:r>
              <a:t>FATMA ÇAKIR  •  HEART DISEASE PREDICTION</a:t>
            </a:r>
          </a:p>
        </p:txBody>
      </p:sp>
      <p:sp>
        <p:nvSpPr>
          <p:cNvPr id="9" name="TextBox 8"/>
          <p:cNvSpPr txBox="1"/>
          <p:nvPr/>
        </p:nvSpPr>
        <p:spPr>
          <a:xfrm>
            <a:off x="11018520" y="6556248"/>
            <a:ext cx="457200" cy="182880"/>
          </a:xfrm>
          <a:prstGeom prst="rect">
            <a:avLst/>
          </a:prstGeom>
          <a:noFill/>
        </p:spPr>
        <p:txBody>
          <a:bodyPr wrap="square">
            <a:spAutoFit/>
          </a:bodyPr>
          <a:lstStyle/>
          <a:p>
            <a:pPr>
              <a:spcAft>
                <a:spcPts val="1200"/>
              </a:spcAft>
              <a:defRPr sz="1000" b="0">
                <a:solidFill>
                  <a:srgbClr val="65556C"/>
                </a:solidFill>
                <a:latin typeface="Aptos"/>
              </a:defRPr>
            </a:pPr>
            <a:r>
              <a:t>02</a:t>
            </a:r>
          </a:p>
        </p:txBody>
      </p:sp>
      <p:sp>
        <p:nvSpPr>
          <p:cNvPr id="10" name="Rounded Rectangle 9"/>
          <p:cNvSpPr/>
          <p:nvPr/>
        </p:nvSpPr>
        <p:spPr>
          <a:xfrm>
            <a:off x="640080" y="2423160"/>
            <a:ext cx="5257800" cy="3337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423160"/>
            <a:ext cx="77724" cy="3337560"/>
          </a:xfrm>
          <a:prstGeom prst="rect">
            <a:avLst/>
          </a:prstGeom>
          <a:solidFill>
            <a:srgbClr val="662E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624328"/>
            <a:ext cx="4782312" cy="594360"/>
          </a:xfrm>
          <a:prstGeom prst="rect">
            <a:avLst/>
          </a:prstGeom>
          <a:noFill/>
        </p:spPr>
        <p:txBody>
          <a:bodyPr wrap="square">
            <a:spAutoFit/>
          </a:bodyPr>
          <a:lstStyle/>
          <a:p>
            <a:pPr>
              <a:spcAft>
                <a:spcPts val="1200"/>
              </a:spcAft>
              <a:defRPr sz="2200" b="1">
                <a:solidFill>
                  <a:srgbClr val="662E84"/>
                </a:solidFill>
                <a:latin typeface="Aptos"/>
              </a:defRPr>
            </a:pPr>
            <a:r>
              <a:t>INPUT</a:t>
            </a:r>
          </a:p>
        </p:txBody>
      </p:sp>
      <p:sp>
        <p:nvSpPr>
          <p:cNvPr id="13" name="TextBox 12"/>
          <p:cNvSpPr txBox="1"/>
          <p:nvPr/>
        </p:nvSpPr>
        <p:spPr>
          <a:xfrm>
            <a:off x="886968" y="3337560"/>
            <a:ext cx="4800600" cy="2377439"/>
          </a:xfrm>
          <a:prstGeom prst="rect">
            <a:avLst/>
          </a:prstGeom>
          <a:noFill/>
        </p:spPr>
        <p:txBody>
          <a:bodyPr wrap="square">
            <a:spAutoFit/>
          </a:bodyPr>
          <a:lstStyle/>
          <a:p>
            <a:pPr>
              <a:spcAft>
                <a:spcPts val="1200"/>
              </a:spcAft>
              <a:defRPr sz="1900" b="0">
                <a:solidFill>
                  <a:srgbClr val="301C3F"/>
                </a:solidFill>
                <a:latin typeface="Aptos"/>
              </a:defRPr>
            </a:pPr>
            <a:r>
              <a:t>11 clinical indicators</a:t>
            </a:r>
          </a:p>
          <a:p>
            <a:pPr>
              <a:spcAft>
                <a:spcPts val="1200"/>
              </a:spcAft>
              <a:defRPr sz="1900" b="0">
                <a:solidFill>
                  <a:srgbClr val="301C3F"/>
                </a:solidFill>
                <a:latin typeface="Aptos"/>
              </a:defRPr>
            </a:pPr>
            <a:r>
              <a:t>Age • chest pain • cholesterol</a:t>
            </a:r>
          </a:p>
          <a:p>
            <a:pPr>
              <a:spcAft>
                <a:spcPts val="1200"/>
              </a:spcAft>
              <a:defRPr sz="1900" b="0">
                <a:solidFill>
                  <a:srgbClr val="301C3F"/>
                </a:solidFill>
                <a:latin typeface="Aptos"/>
              </a:defRPr>
            </a:pPr>
            <a:r>
              <a:t>Heart rate • ECG • exercise symptoms</a:t>
            </a:r>
          </a:p>
        </p:txBody>
      </p:sp>
      <p:sp>
        <p:nvSpPr>
          <p:cNvPr id="14" name="Rounded Rectangle 13"/>
          <p:cNvSpPr/>
          <p:nvPr/>
        </p:nvSpPr>
        <p:spPr>
          <a:xfrm>
            <a:off x="6126480" y="2423160"/>
            <a:ext cx="5394960" cy="3337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2423160"/>
            <a:ext cx="77724" cy="333756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8" y="2624328"/>
            <a:ext cx="4919472" cy="594360"/>
          </a:xfrm>
          <a:prstGeom prst="rect">
            <a:avLst/>
          </a:prstGeom>
          <a:noFill/>
        </p:spPr>
        <p:txBody>
          <a:bodyPr wrap="square">
            <a:spAutoFit/>
          </a:bodyPr>
          <a:lstStyle/>
          <a:p>
            <a:pPr>
              <a:spcAft>
                <a:spcPts val="1200"/>
              </a:spcAft>
              <a:defRPr sz="2200" b="1">
                <a:solidFill>
                  <a:srgbClr val="D13A8B"/>
                </a:solidFill>
                <a:latin typeface="Aptos"/>
              </a:defRPr>
            </a:pPr>
            <a:r>
              <a:t>PREDICTION</a:t>
            </a:r>
          </a:p>
        </p:txBody>
      </p:sp>
      <p:sp>
        <p:nvSpPr>
          <p:cNvPr id="17" name="TextBox 16"/>
          <p:cNvSpPr txBox="1"/>
          <p:nvPr/>
        </p:nvSpPr>
        <p:spPr>
          <a:xfrm>
            <a:off x="6373368" y="3337560"/>
            <a:ext cx="4937760" cy="2377439"/>
          </a:xfrm>
          <a:prstGeom prst="rect">
            <a:avLst/>
          </a:prstGeom>
          <a:noFill/>
        </p:spPr>
        <p:txBody>
          <a:bodyPr wrap="square">
            <a:spAutoFit/>
          </a:bodyPr>
          <a:lstStyle/>
          <a:p>
            <a:pPr>
              <a:spcAft>
                <a:spcPts val="1200"/>
              </a:spcAft>
              <a:defRPr sz="1900" b="0">
                <a:solidFill>
                  <a:srgbClr val="301C3F"/>
                </a:solidFill>
                <a:latin typeface="Aptos"/>
              </a:defRPr>
            </a:pPr>
            <a:r>
              <a:t>HeartDisease = 0 or 1</a:t>
            </a:r>
          </a:p>
          <a:p>
            <a:pPr>
              <a:spcAft>
                <a:spcPts val="1200"/>
              </a:spcAft>
              <a:defRPr sz="1900" b="0">
                <a:solidFill>
                  <a:srgbClr val="301C3F"/>
                </a:solidFill>
                <a:latin typeface="Aptos"/>
              </a:defRPr>
            </a:pPr>
            <a:r>
              <a:t>A binary classification task</a:t>
            </a:r>
          </a:p>
          <a:p>
            <a:pPr>
              <a:spcAft>
                <a:spcPts val="1200"/>
              </a:spcAft>
              <a:defRPr sz="1900" b="0">
                <a:solidFill>
                  <a:srgbClr val="301C3F"/>
                </a:solidFill>
                <a:latin typeface="Aptos"/>
              </a:defRPr>
            </a:pPr>
            <a:r>
              <a:t>Useful for exploring screening patterns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058400" cy="320040"/>
          </a:xfrm>
          <a:prstGeom prst="rect">
            <a:avLst/>
          </a:prstGeom>
          <a:noFill/>
        </p:spPr>
        <p:txBody>
          <a:bodyPr wrap="square">
            <a:spAutoFit/>
          </a:bodyPr>
          <a:lstStyle/>
          <a:p>
            <a:pPr>
              <a:spcAft>
                <a:spcPts val="1200"/>
              </a:spcAft>
              <a:defRPr sz="1200" b="1">
                <a:solidFill>
                  <a:srgbClr val="D13A8B"/>
                </a:solidFill>
                <a:latin typeface="Aptos"/>
              </a:defRPr>
            </a:pPr>
            <a:r>
              <a:t>THE DATASET</a:t>
            </a:r>
          </a:p>
        </p:txBody>
      </p:sp>
      <p:sp>
        <p:nvSpPr>
          <p:cNvPr id="5" name="TextBox 4"/>
          <p:cNvSpPr txBox="1"/>
          <p:nvPr/>
        </p:nvSpPr>
        <p:spPr>
          <a:xfrm>
            <a:off x="594360" y="749808"/>
            <a:ext cx="10972800" cy="914400"/>
          </a:xfrm>
          <a:prstGeom prst="rect">
            <a:avLst/>
          </a:prstGeom>
          <a:noFill/>
        </p:spPr>
        <p:txBody>
          <a:bodyPr wrap="square">
            <a:spAutoFit/>
          </a:bodyPr>
          <a:lstStyle/>
          <a:p>
            <a:pPr>
              <a:spcAft>
                <a:spcPts val="1200"/>
              </a:spcAft>
              <a:defRPr sz="3400" b="1">
                <a:solidFill>
                  <a:srgbClr val="301C3F"/>
                </a:solidFill>
                <a:latin typeface="Aptos"/>
              </a:defRPr>
            </a:pPr>
            <a:r>
              <a:t>918 records. Two outcome groups.</a:t>
            </a:r>
          </a:p>
        </p:txBody>
      </p:sp>
      <p:sp>
        <p:nvSpPr>
          <p:cNvPr id="6" name="TextBox 5"/>
          <p:cNvSpPr txBox="1"/>
          <p:nvPr/>
        </p:nvSpPr>
        <p:spPr>
          <a:xfrm>
            <a:off x="640080" y="1609344"/>
            <a:ext cx="10881360" cy="594360"/>
          </a:xfrm>
          <a:prstGeom prst="rect">
            <a:avLst/>
          </a:prstGeom>
          <a:noFill/>
        </p:spPr>
        <p:txBody>
          <a:bodyPr wrap="square">
            <a:spAutoFit/>
          </a:bodyPr>
          <a:lstStyle/>
          <a:p>
            <a:pPr>
              <a:spcAft>
                <a:spcPts val="1200"/>
              </a:spcAft>
              <a:defRPr sz="1700" b="0">
                <a:solidFill>
                  <a:srgbClr val="65556C"/>
                </a:solidFill>
                <a:latin typeface="Aptos"/>
              </a:defRPr>
            </a:pPr>
            <a:r>
              <a:t>I used the Kaggle Heart Failure Prediction dataset suggested by my teacher.</a:t>
            </a:r>
          </a:p>
        </p:txBody>
      </p:sp>
      <p:sp>
        <p:nvSpPr>
          <p:cNvPr id="7" name="Rectangle 6"/>
          <p:cNvSpPr/>
          <p:nvPr/>
        </p:nvSpPr>
        <p:spPr>
          <a:xfrm>
            <a:off x="640080" y="6510528"/>
            <a:ext cx="10908792" cy="13716"/>
          </a:xfrm>
          <a:prstGeom prst="rect">
            <a:avLst/>
          </a:prstGeom>
          <a:solidFill>
            <a:srgbClr val="EAC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556248"/>
            <a:ext cx="7315200" cy="182880"/>
          </a:xfrm>
          <a:prstGeom prst="rect">
            <a:avLst/>
          </a:prstGeom>
          <a:noFill/>
        </p:spPr>
        <p:txBody>
          <a:bodyPr wrap="square">
            <a:spAutoFit/>
          </a:bodyPr>
          <a:lstStyle/>
          <a:p>
            <a:pPr>
              <a:spcAft>
                <a:spcPts val="1200"/>
              </a:spcAft>
              <a:defRPr sz="1000" b="0">
                <a:solidFill>
                  <a:srgbClr val="65556C"/>
                </a:solidFill>
                <a:latin typeface="Aptos"/>
              </a:defRPr>
            </a:pPr>
            <a:r>
              <a:t>FATMA ÇAKIR  •  HEART DISEASE PREDICTION</a:t>
            </a:r>
          </a:p>
        </p:txBody>
      </p:sp>
      <p:sp>
        <p:nvSpPr>
          <p:cNvPr id="9" name="TextBox 8"/>
          <p:cNvSpPr txBox="1"/>
          <p:nvPr/>
        </p:nvSpPr>
        <p:spPr>
          <a:xfrm>
            <a:off x="11018520" y="6556248"/>
            <a:ext cx="457200" cy="182880"/>
          </a:xfrm>
          <a:prstGeom prst="rect">
            <a:avLst/>
          </a:prstGeom>
          <a:noFill/>
        </p:spPr>
        <p:txBody>
          <a:bodyPr wrap="square">
            <a:spAutoFit/>
          </a:bodyPr>
          <a:lstStyle/>
          <a:p>
            <a:pPr>
              <a:spcAft>
                <a:spcPts val="1200"/>
              </a:spcAft>
              <a:defRPr sz="1000" b="0">
                <a:solidFill>
                  <a:srgbClr val="65556C"/>
                </a:solidFill>
                <a:latin typeface="Aptos"/>
              </a:defRPr>
            </a:pPr>
            <a:r>
              <a:t>03</a:t>
            </a:r>
          </a:p>
        </p:txBody>
      </p:sp>
      <p:sp>
        <p:nvSpPr>
          <p:cNvPr id="10" name="Rounded Rectangle 9"/>
          <p:cNvSpPr/>
          <p:nvPr/>
        </p:nvSpPr>
        <p:spPr>
          <a:xfrm>
            <a:off x="640080" y="2468880"/>
            <a:ext cx="3383280" cy="2880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468880"/>
            <a:ext cx="77724" cy="2880360"/>
          </a:xfrm>
          <a:prstGeom prst="rect">
            <a:avLst/>
          </a:prstGeom>
          <a:solidFill>
            <a:srgbClr val="662E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670048"/>
            <a:ext cx="2907792" cy="594360"/>
          </a:xfrm>
          <a:prstGeom prst="rect">
            <a:avLst/>
          </a:prstGeom>
          <a:noFill/>
        </p:spPr>
        <p:txBody>
          <a:bodyPr wrap="square">
            <a:spAutoFit/>
          </a:bodyPr>
          <a:lstStyle/>
          <a:p>
            <a:pPr>
              <a:spcAft>
                <a:spcPts val="1200"/>
              </a:spcAft>
              <a:defRPr sz="2200" b="1">
                <a:solidFill>
                  <a:srgbClr val="662E84"/>
                </a:solidFill>
                <a:latin typeface="Aptos"/>
              </a:defRPr>
            </a:pPr>
            <a:r>
              <a:t>918</a:t>
            </a:r>
          </a:p>
        </p:txBody>
      </p:sp>
      <p:sp>
        <p:nvSpPr>
          <p:cNvPr id="13" name="TextBox 12"/>
          <p:cNvSpPr txBox="1"/>
          <p:nvPr/>
        </p:nvSpPr>
        <p:spPr>
          <a:xfrm>
            <a:off x="886968" y="3383280"/>
            <a:ext cx="2926080" cy="1920239"/>
          </a:xfrm>
          <a:prstGeom prst="rect">
            <a:avLst/>
          </a:prstGeom>
          <a:noFill/>
        </p:spPr>
        <p:txBody>
          <a:bodyPr wrap="square">
            <a:spAutoFit/>
          </a:bodyPr>
          <a:lstStyle/>
          <a:p>
            <a:pPr>
              <a:spcAft>
                <a:spcPts val="1200"/>
              </a:spcAft>
              <a:defRPr sz="1900" b="0">
                <a:solidFill>
                  <a:srgbClr val="301C3F"/>
                </a:solidFill>
                <a:latin typeface="Aptos"/>
              </a:defRPr>
            </a:pPr>
            <a:r>
              <a:t>Patient records</a:t>
            </a:r>
          </a:p>
        </p:txBody>
      </p:sp>
      <p:sp>
        <p:nvSpPr>
          <p:cNvPr id="14" name="Rounded Rectangle 13"/>
          <p:cNvSpPr/>
          <p:nvPr/>
        </p:nvSpPr>
        <p:spPr>
          <a:xfrm>
            <a:off x="4389120" y="2468880"/>
            <a:ext cx="3383280" cy="2880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2468880"/>
            <a:ext cx="77724" cy="288036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2670048"/>
            <a:ext cx="2907792" cy="594360"/>
          </a:xfrm>
          <a:prstGeom prst="rect">
            <a:avLst/>
          </a:prstGeom>
          <a:noFill/>
        </p:spPr>
        <p:txBody>
          <a:bodyPr wrap="square">
            <a:spAutoFit/>
          </a:bodyPr>
          <a:lstStyle/>
          <a:p>
            <a:pPr>
              <a:spcAft>
                <a:spcPts val="1200"/>
              </a:spcAft>
              <a:defRPr sz="2200" b="1">
                <a:solidFill>
                  <a:srgbClr val="D13A8B"/>
                </a:solidFill>
                <a:latin typeface="Aptos"/>
              </a:defRPr>
            </a:pPr>
            <a:r>
              <a:t>508</a:t>
            </a:r>
          </a:p>
        </p:txBody>
      </p:sp>
      <p:sp>
        <p:nvSpPr>
          <p:cNvPr id="17" name="TextBox 16"/>
          <p:cNvSpPr txBox="1"/>
          <p:nvPr/>
        </p:nvSpPr>
        <p:spPr>
          <a:xfrm>
            <a:off x="4636008" y="3383280"/>
            <a:ext cx="2926080" cy="1920239"/>
          </a:xfrm>
          <a:prstGeom prst="rect">
            <a:avLst/>
          </a:prstGeom>
          <a:noFill/>
        </p:spPr>
        <p:txBody>
          <a:bodyPr wrap="square">
            <a:spAutoFit/>
          </a:bodyPr>
          <a:lstStyle/>
          <a:p>
            <a:pPr>
              <a:spcAft>
                <a:spcPts val="1200"/>
              </a:spcAft>
              <a:defRPr sz="1900" b="0">
                <a:solidFill>
                  <a:srgbClr val="301C3F"/>
                </a:solidFill>
                <a:latin typeface="Aptos"/>
              </a:defRPr>
            </a:pPr>
            <a:r>
              <a:t>Labeled with heart disease</a:t>
            </a:r>
          </a:p>
        </p:txBody>
      </p:sp>
      <p:sp>
        <p:nvSpPr>
          <p:cNvPr id="18" name="Rounded Rectangle 17"/>
          <p:cNvSpPr/>
          <p:nvPr/>
        </p:nvSpPr>
        <p:spPr>
          <a:xfrm>
            <a:off x="8138160" y="2468880"/>
            <a:ext cx="3383280" cy="2880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2468880"/>
            <a:ext cx="77724" cy="2880360"/>
          </a:xfrm>
          <a:prstGeom prst="rect">
            <a:avLst/>
          </a:prstGeom>
          <a:solidFill>
            <a:srgbClr val="C83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5048" y="2670048"/>
            <a:ext cx="2907792" cy="594360"/>
          </a:xfrm>
          <a:prstGeom prst="rect">
            <a:avLst/>
          </a:prstGeom>
          <a:noFill/>
        </p:spPr>
        <p:txBody>
          <a:bodyPr wrap="square">
            <a:spAutoFit/>
          </a:bodyPr>
          <a:lstStyle/>
          <a:p>
            <a:pPr>
              <a:spcAft>
                <a:spcPts val="1200"/>
              </a:spcAft>
              <a:defRPr sz="2200" b="1">
                <a:solidFill>
                  <a:srgbClr val="C83F69"/>
                </a:solidFill>
                <a:latin typeface="Aptos"/>
              </a:defRPr>
            </a:pPr>
            <a:r>
              <a:t>410</a:t>
            </a:r>
          </a:p>
        </p:txBody>
      </p:sp>
      <p:sp>
        <p:nvSpPr>
          <p:cNvPr id="21" name="TextBox 20"/>
          <p:cNvSpPr txBox="1"/>
          <p:nvPr/>
        </p:nvSpPr>
        <p:spPr>
          <a:xfrm>
            <a:off x="8385048" y="3383280"/>
            <a:ext cx="2926080" cy="1920239"/>
          </a:xfrm>
          <a:prstGeom prst="rect">
            <a:avLst/>
          </a:prstGeom>
          <a:noFill/>
        </p:spPr>
        <p:txBody>
          <a:bodyPr wrap="square">
            <a:spAutoFit/>
          </a:bodyPr>
          <a:lstStyle/>
          <a:p>
            <a:pPr>
              <a:spcAft>
                <a:spcPts val="1200"/>
              </a:spcAft>
              <a:defRPr sz="1900" b="0">
                <a:solidFill>
                  <a:srgbClr val="301C3F"/>
                </a:solidFill>
                <a:latin typeface="Aptos"/>
              </a:defRPr>
            </a:pPr>
            <a:r>
              <a:t>Labeled without heart disease</a:t>
            </a:r>
          </a:p>
        </p:txBody>
      </p:sp>
      <p:sp>
        <p:nvSpPr>
          <p:cNvPr id="22" name="TextBox 21"/>
          <p:cNvSpPr txBox="1"/>
          <p:nvPr/>
        </p:nvSpPr>
        <p:spPr>
          <a:xfrm>
            <a:off x="868680" y="5650992"/>
            <a:ext cx="10515600" cy="438912"/>
          </a:xfrm>
          <a:prstGeom prst="rect">
            <a:avLst/>
          </a:prstGeom>
          <a:noFill/>
        </p:spPr>
        <p:txBody>
          <a:bodyPr wrap="square">
            <a:spAutoFit/>
          </a:bodyPr>
          <a:lstStyle/>
          <a:p>
            <a:pPr>
              <a:spcAft>
                <a:spcPts val="1200"/>
              </a:spcAft>
              <a:defRPr sz="1700" b="0">
                <a:solidFill>
                  <a:srgbClr val="65556C"/>
                </a:solidFill>
                <a:latin typeface="Aptos"/>
              </a:defRPr>
            </a:pPr>
            <a:r>
              <a:t>The two groups are reasonably represented, but this is still a limited dataset.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058400" cy="320040"/>
          </a:xfrm>
          <a:prstGeom prst="rect">
            <a:avLst/>
          </a:prstGeom>
          <a:noFill/>
        </p:spPr>
        <p:txBody>
          <a:bodyPr wrap="square">
            <a:spAutoFit/>
          </a:bodyPr>
          <a:lstStyle/>
          <a:p>
            <a:pPr>
              <a:spcAft>
                <a:spcPts val="1200"/>
              </a:spcAft>
              <a:defRPr sz="1200" b="1">
                <a:solidFill>
                  <a:srgbClr val="D13A8B"/>
                </a:solidFill>
                <a:latin typeface="Aptos"/>
              </a:defRPr>
            </a:pPr>
            <a:r>
              <a:t>DATA QUALITY</a:t>
            </a:r>
          </a:p>
        </p:txBody>
      </p:sp>
      <p:sp>
        <p:nvSpPr>
          <p:cNvPr id="5" name="TextBox 4"/>
          <p:cNvSpPr txBox="1"/>
          <p:nvPr/>
        </p:nvSpPr>
        <p:spPr>
          <a:xfrm>
            <a:off x="594360" y="749808"/>
            <a:ext cx="10972800" cy="914400"/>
          </a:xfrm>
          <a:prstGeom prst="rect">
            <a:avLst/>
          </a:prstGeom>
          <a:noFill/>
        </p:spPr>
        <p:txBody>
          <a:bodyPr wrap="square">
            <a:spAutoFit/>
          </a:bodyPr>
          <a:lstStyle/>
          <a:p>
            <a:pPr>
              <a:spcAft>
                <a:spcPts val="1200"/>
              </a:spcAft>
              <a:defRPr sz="3400" b="1">
                <a:solidFill>
                  <a:srgbClr val="301C3F"/>
                </a:solidFill>
                <a:latin typeface="Aptos"/>
              </a:defRPr>
            </a:pPr>
            <a:r>
              <a:t>Some measurements were not realistic</a:t>
            </a:r>
          </a:p>
        </p:txBody>
      </p:sp>
      <p:sp>
        <p:nvSpPr>
          <p:cNvPr id="6" name="TextBox 5"/>
          <p:cNvSpPr txBox="1"/>
          <p:nvPr/>
        </p:nvSpPr>
        <p:spPr>
          <a:xfrm>
            <a:off x="640080" y="1609344"/>
            <a:ext cx="10881360" cy="594360"/>
          </a:xfrm>
          <a:prstGeom prst="rect">
            <a:avLst/>
          </a:prstGeom>
          <a:noFill/>
        </p:spPr>
        <p:txBody>
          <a:bodyPr wrap="square">
            <a:spAutoFit/>
          </a:bodyPr>
          <a:lstStyle/>
          <a:p>
            <a:pPr>
              <a:spcAft>
                <a:spcPts val="1200"/>
              </a:spcAft>
              <a:defRPr sz="1700" b="0">
                <a:solidFill>
                  <a:srgbClr val="65556C"/>
                </a:solidFill>
                <a:latin typeface="Aptos"/>
              </a:defRPr>
            </a:pPr>
            <a:r>
              <a:t>I treated these unrealistic zero values as missing measurements.</a:t>
            </a:r>
          </a:p>
        </p:txBody>
      </p:sp>
      <p:sp>
        <p:nvSpPr>
          <p:cNvPr id="7" name="Rectangle 6"/>
          <p:cNvSpPr/>
          <p:nvPr/>
        </p:nvSpPr>
        <p:spPr>
          <a:xfrm>
            <a:off x="640080" y="6510528"/>
            <a:ext cx="10908792" cy="13716"/>
          </a:xfrm>
          <a:prstGeom prst="rect">
            <a:avLst/>
          </a:prstGeom>
          <a:solidFill>
            <a:srgbClr val="EAC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556248"/>
            <a:ext cx="7315200" cy="182880"/>
          </a:xfrm>
          <a:prstGeom prst="rect">
            <a:avLst/>
          </a:prstGeom>
          <a:noFill/>
        </p:spPr>
        <p:txBody>
          <a:bodyPr wrap="square">
            <a:spAutoFit/>
          </a:bodyPr>
          <a:lstStyle/>
          <a:p>
            <a:pPr>
              <a:spcAft>
                <a:spcPts val="1200"/>
              </a:spcAft>
              <a:defRPr sz="1000" b="0">
                <a:solidFill>
                  <a:srgbClr val="65556C"/>
                </a:solidFill>
                <a:latin typeface="Aptos"/>
              </a:defRPr>
            </a:pPr>
            <a:r>
              <a:t>FATMA ÇAKIR  •  HEART DISEASE PREDICTION</a:t>
            </a:r>
          </a:p>
        </p:txBody>
      </p:sp>
      <p:sp>
        <p:nvSpPr>
          <p:cNvPr id="9" name="TextBox 8"/>
          <p:cNvSpPr txBox="1"/>
          <p:nvPr/>
        </p:nvSpPr>
        <p:spPr>
          <a:xfrm>
            <a:off x="11018520" y="6556248"/>
            <a:ext cx="457200" cy="182880"/>
          </a:xfrm>
          <a:prstGeom prst="rect">
            <a:avLst/>
          </a:prstGeom>
          <a:noFill/>
        </p:spPr>
        <p:txBody>
          <a:bodyPr wrap="square">
            <a:spAutoFit/>
          </a:bodyPr>
          <a:lstStyle/>
          <a:p>
            <a:pPr>
              <a:spcAft>
                <a:spcPts val="1200"/>
              </a:spcAft>
              <a:defRPr sz="1000" b="0">
                <a:solidFill>
                  <a:srgbClr val="65556C"/>
                </a:solidFill>
                <a:latin typeface="Aptos"/>
              </a:defRPr>
            </a:pPr>
            <a:r>
              <a:t>04</a:t>
            </a:r>
          </a:p>
        </p:txBody>
      </p:sp>
      <p:sp>
        <p:nvSpPr>
          <p:cNvPr id="10" name="Rounded Rectangle 9"/>
          <p:cNvSpPr/>
          <p:nvPr/>
        </p:nvSpPr>
        <p:spPr>
          <a:xfrm>
            <a:off x="640080" y="2468880"/>
            <a:ext cx="5257800" cy="2926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468880"/>
            <a:ext cx="77724" cy="2926080"/>
          </a:xfrm>
          <a:prstGeom prst="rect">
            <a:avLst/>
          </a:prstGeom>
          <a:solidFill>
            <a:srgbClr val="662E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670048"/>
            <a:ext cx="4782312" cy="594360"/>
          </a:xfrm>
          <a:prstGeom prst="rect">
            <a:avLst/>
          </a:prstGeom>
          <a:noFill/>
        </p:spPr>
        <p:txBody>
          <a:bodyPr wrap="square">
            <a:spAutoFit/>
          </a:bodyPr>
          <a:lstStyle/>
          <a:p>
            <a:pPr>
              <a:spcAft>
                <a:spcPts val="1200"/>
              </a:spcAft>
              <a:defRPr sz="2200" b="1">
                <a:solidFill>
                  <a:srgbClr val="662E84"/>
                </a:solidFill>
                <a:latin typeface="Aptos"/>
              </a:defRPr>
            </a:pPr>
            <a:r>
              <a:t>172</a:t>
            </a:r>
          </a:p>
        </p:txBody>
      </p:sp>
      <p:sp>
        <p:nvSpPr>
          <p:cNvPr id="13" name="TextBox 12"/>
          <p:cNvSpPr txBox="1"/>
          <p:nvPr/>
        </p:nvSpPr>
        <p:spPr>
          <a:xfrm>
            <a:off x="886968" y="3383280"/>
            <a:ext cx="4800600" cy="1965960"/>
          </a:xfrm>
          <a:prstGeom prst="rect">
            <a:avLst/>
          </a:prstGeom>
          <a:noFill/>
        </p:spPr>
        <p:txBody>
          <a:bodyPr wrap="square">
            <a:spAutoFit/>
          </a:bodyPr>
          <a:lstStyle/>
          <a:p>
            <a:pPr>
              <a:spcAft>
                <a:spcPts val="1200"/>
              </a:spcAft>
              <a:defRPr sz="1900" b="0">
                <a:solidFill>
                  <a:srgbClr val="301C3F"/>
                </a:solidFill>
                <a:latin typeface="Aptos"/>
              </a:defRPr>
            </a:pPr>
            <a:r>
              <a:t>Cholesterol values recorded as zero</a:t>
            </a:r>
          </a:p>
        </p:txBody>
      </p:sp>
      <p:sp>
        <p:nvSpPr>
          <p:cNvPr id="14" name="Rounded Rectangle 13"/>
          <p:cNvSpPr/>
          <p:nvPr/>
        </p:nvSpPr>
        <p:spPr>
          <a:xfrm>
            <a:off x="6144768" y="2468880"/>
            <a:ext cx="5394960" cy="2926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2468880"/>
            <a:ext cx="77724" cy="292608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1656" y="2670048"/>
            <a:ext cx="4919472" cy="594360"/>
          </a:xfrm>
          <a:prstGeom prst="rect">
            <a:avLst/>
          </a:prstGeom>
          <a:noFill/>
        </p:spPr>
        <p:txBody>
          <a:bodyPr wrap="square">
            <a:spAutoFit/>
          </a:bodyPr>
          <a:lstStyle/>
          <a:p>
            <a:pPr>
              <a:spcAft>
                <a:spcPts val="1200"/>
              </a:spcAft>
              <a:defRPr sz="2200" b="1">
                <a:solidFill>
                  <a:srgbClr val="D13A8B"/>
                </a:solidFill>
                <a:latin typeface="Aptos"/>
              </a:defRPr>
            </a:pPr>
            <a:r>
              <a:t>1</a:t>
            </a:r>
          </a:p>
        </p:txBody>
      </p:sp>
      <p:sp>
        <p:nvSpPr>
          <p:cNvPr id="17" name="TextBox 16"/>
          <p:cNvSpPr txBox="1"/>
          <p:nvPr/>
        </p:nvSpPr>
        <p:spPr>
          <a:xfrm>
            <a:off x="6391656" y="3383280"/>
            <a:ext cx="4937760" cy="1965960"/>
          </a:xfrm>
          <a:prstGeom prst="rect">
            <a:avLst/>
          </a:prstGeom>
          <a:noFill/>
        </p:spPr>
        <p:txBody>
          <a:bodyPr wrap="square">
            <a:spAutoFit/>
          </a:bodyPr>
          <a:lstStyle/>
          <a:p>
            <a:pPr>
              <a:spcAft>
                <a:spcPts val="1200"/>
              </a:spcAft>
              <a:defRPr sz="1900" b="0">
                <a:solidFill>
                  <a:srgbClr val="301C3F"/>
                </a:solidFill>
                <a:latin typeface="Aptos"/>
              </a:defRPr>
            </a:pPr>
            <a:r>
              <a:t>Resting blood pressure value recorded as zero</a:t>
            </a:r>
          </a:p>
        </p:txBody>
      </p:sp>
      <p:sp>
        <p:nvSpPr>
          <p:cNvPr id="18" name="TextBox 17"/>
          <p:cNvSpPr txBox="1"/>
          <p:nvPr/>
        </p:nvSpPr>
        <p:spPr>
          <a:xfrm>
            <a:off x="914400" y="5696712"/>
            <a:ext cx="10515600" cy="411480"/>
          </a:xfrm>
          <a:prstGeom prst="rect">
            <a:avLst/>
          </a:prstGeom>
          <a:noFill/>
        </p:spPr>
        <p:txBody>
          <a:bodyPr wrap="square">
            <a:spAutoFit/>
          </a:bodyPr>
          <a:lstStyle/>
          <a:p>
            <a:pPr>
              <a:spcAft>
                <a:spcPts val="1200"/>
              </a:spcAft>
              <a:defRPr sz="1700" b="0">
                <a:solidFill>
                  <a:srgbClr val="65556C"/>
                </a:solidFill>
                <a:latin typeface="Aptos"/>
              </a:defRPr>
            </a:pPr>
            <a:r>
              <a:t>I imputed missing values and encoded categories inside the training pipeline.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058400" cy="320040"/>
          </a:xfrm>
          <a:prstGeom prst="rect">
            <a:avLst/>
          </a:prstGeom>
          <a:noFill/>
        </p:spPr>
        <p:txBody>
          <a:bodyPr wrap="square">
            <a:spAutoFit/>
          </a:bodyPr>
          <a:lstStyle/>
          <a:p>
            <a:pPr>
              <a:spcAft>
                <a:spcPts val="1200"/>
              </a:spcAft>
              <a:defRPr sz="1200" b="1">
                <a:solidFill>
                  <a:srgbClr val="D13A8B"/>
                </a:solidFill>
                <a:latin typeface="Aptos"/>
              </a:defRPr>
            </a:pPr>
            <a:r>
              <a:t>MODEL EXPERIMENT</a:t>
            </a:r>
          </a:p>
        </p:txBody>
      </p:sp>
      <p:sp>
        <p:nvSpPr>
          <p:cNvPr id="5" name="TextBox 4"/>
          <p:cNvSpPr txBox="1"/>
          <p:nvPr/>
        </p:nvSpPr>
        <p:spPr>
          <a:xfrm>
            <a:off x="594360" y="749808"/>
            <a:ext cx="10972800" cy="914400"/>
          </a:xfrm>
          <a:prstGeom prst="rect">
            <a:avLst/>
          </a:prstGeom>
          <a:noFill/>
        </p:spPr>
        <p:txBody>
          <a:bodyPr wrap="square">
            <a:spAutoFit/>
          </a:bodyPr>
          <a:lstStyle/>
          <a:p>
            <a:pPr>
              <a:spcAft>
                <a:spcPts val="1200"/>
              </a:spcAft>
              <a:defRPr sz="3400" b="1">
                <a:solidFill>
                  <a:srgbClr val="301C3F"/>
                </a:solidFill>
                <a:latin typeface="Aptos"/>
              </a:defRPr>
            </a:pPr>
            <a:r>
              <a:t>A simple model was already competitive</a:t>
            </a:r>
          </a:p>
        </p:txBody>
      </p:sp>
      <p:sp>
        <p:nvSpPr>
          <p:cNvPr id="6" name="TextBox 5"/>
          <p:cNvSpPr txBox="1"/>
          <p:nvPr/>
        </p:nvSpPr>
        <p:spPr>
          <a:xfrm>
            <a:off x="640080" y="1609344"/>
            <a:ext cx="10881360" cy="594360"/>
          </a:xfrm>
          <a:prstGeom prst="rect">
            <a:avLst/>
          </a:prstGeom>
          <a:noFill/>
        </p:spPr>
        <p:txBody>
          <a:bodyPr wrap="square">
            <a:spAutoFit/>
          </a:bodyPr>
          <a:lstStyle/>
          <a:p>
            <a:pPr>
              <a:spcAft>
                <a:spcPts val="1200"/>
              </a:spcAft>
              <a:defRPr sz="1700" b="0">
                <a:solidFill>
                  <a:srgbClr val="65556C"/>
                </a:solidFill>
                <a:latin typeface="Aptos"/>
              </a:defRPr>
            </a:pPr>
            <a:r>
              <a:t>Five-fold cross-validation results on training data.</a:t>
            </a:r>
          </a:p>
        </p:txBody>
      </p:sp>
      <p:sp>
        <p:nvSpPr>
          <p:cNvPr id="7" name="Rectangle 6"/>
          <p:cNvSpPr/>
          <p:nvPr/>
        </p:nvSpPr>
        <p:spPr>
          <a:xfrm>
            <a:off x="640080" y="6510528"/>
            <a:ext cx="10908792" cy="13716"/>
          </a:xfrm>
          <a:prstGeom prst="rect">
            <a:avLst/>
          </a:prstGeom>
          <a:solidFill>
            <a:srgbClr val="EAC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556248"/>
            <a:ext cx="7315200" cy="182880"/>
          </a:xfrm>
          <a:prstGeom prst="rect">
            <a:avLst/>
          </a:prstGeom>
          <a:noFill/>
        </p:spPr>
        <p:txBody>
          <a:bodyPr wrap="square">
            <a:spAutoFit/>
          </a:bodyPr>
          <a:lstStyle/>
          <a:p>
            <a:pPr>
              <a:spcAft>
                <a:spcPts val="1200"/>
              </a:spcAft>
              <a:defRPr sz="1000" b="0">
                <a:solidFill>
                  <a:srgbClr val="65556C"/>
                </a:solidFill>
                <a:latin typeface="Aptos"/>
              </a:defRPr>
            </a:pPr>
            <a:r>
              <a:t>FATMA ÇAKIR  •  HEART DISEASE PREDICTION</a:t>
            </a:r>
          </a:p>
        </p:txBody>
      </p:sp>
      <p:sp>
        <p:nvSpPr>
          <p:cNvPr id="9" name="TextBox 8"/>
          <p:cNvSpPr txBox="1"/>
          <p:nvPr/>
        </p:nvSpPr>
        <p:spPr>
          <a:xfrm>
            <a:off x="11018520" y="6556248"/>
            <a:ext cx="457200" cy="182880"/>
          </a:xfrm>
          <a:prstGeom prst="rect">
            <a:avLst/>
          </a:prstGeom>
          <a:noFill/>
        </p:spPr>
        <p:txBody>
          <a:bodyPr wrap="square">
            <a:spAutoFit/>
          </a:bodyPr>
          <a:lstStyle/>
          <a:p>
            <a:pPr>
              <a:spcAft>
                <a:spcPts val="1200"/>
              </a:spcAft>
              <a:defRPr sz="1000" b="0">
                <a:solidFill>
                  <a:srgbClr val="65556C"/>
                </a:solidFill>
                <a:latin typeface="Aptos"/>
              </a:defRPr>
            </a:pPr>
            <a:r>
              <a:t>05</a:t>
            </a:r>
          </a:p>
        </p:txBody>
      </p:sp>
      <p:sp>
        <p:nvSpPr>
          <p:cNvPr id="10" name="TextBox 9"/>
          <p:cNvSpPr txBox="1"/>
          <p:nvPr/>
        </p:nvSpPr>
        <p:spPr>
          <a:xfrm>
            <a:off x="777240" y="2514600"/>
            <a:ext cx="2971800" cy="502920"/>
          </a:xfrm>
          <a:prstGeom prst="rect">
            <a:avLst/>
          </a:prstGeom>
          <a:noFill/>
        </p:spPr>
        <p:txBody>
          <a:bodyPr wrap="square">
            <a:spAutoFit/>
          </a:bodyPr>
          <a:lstStyle/>
          <a:p>
            <a:pPr>
              <a:spcAft>
                <a:spcPts val="1200"/>
              </a:spcAft>
              <a:defRPr sz="2100" b="1">
                <a:solidFill>
                  <a:srgbClr val="301C3F"/>
                </a:solidFill>
                <a:latin typeface="Aptos"/>
              </a:defRPr>
            </a:pPr>
            <a:r>
              <a:t>Baseline</a:t>
            </a:r>
          </a:p>
        </p:txBody>
      </p:sp>
      <p:sp>
        <p:nvSpPr>
          <p:cNvPr id="11" name="Rounded Rectangle 10"/>
          <p:cNvSpPr/>
          <p:nvPr/>
        </p:nvSpPr>
        <p:spPr>
          <a:xfrm>
            <a:off x="3794760" y="2606040"/>
            <a:ext cx="6217920" cy="292608"/>
          </a:xfrm>
          <a:prstGeom prst="roundRect">
            <a:avLst/>
          </a:prstGeom>
          <a:solidFill>
            <a:srgbClr val="F2E1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794760" y="2606040"/>
            <a:ext cx="3438509" cy="292608"/>
          </a:xfrm>
          <a:prstGeom prst="roundRect">
            <a:avLst/>
          </a:prstGeom>
          <a:solidFill>
            <a:srgbClr val="B8A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87000" y="2514600"/>
            <a:ext cx="1097280" cy="457200"/>
          </a:xfrm>
          <a:prstGeom prst="rect">
            <a:avLst/>
          </a:prstGeom>
          <a:noFill/>
        </p:spPr>
        <p:txBody>
          <a:bodyPr wrap="square">
            <a:spAutoFit/>
          </a:bodyPr>
          <a:lstStyle/>
          <a:p>
            <a:pPr>
              <a:spcAft>
                <a:spcPts val="1200"/>
              </a:spcAft>
              <a:defRPr sz="2200" b="1">
                <a:solidFill>
                  <a:srgbClr val="B8A1C5"/>
                </a:solidFill>
                <a:latin typeface="Aptos"/>
              </a:defRPr>
            </a:pPr>
            <a:r>
              <a:t>55.3%</a:t>
            </a:r>
          </a:p>
        </p:txBody>
      </p:sp>
      <p:sp>
        <p:nvSpPr>
          <p:cNvPr id="14" name="TextBox 13"/>
          <p:cNvSpPr txBox="1"/>
          <p:nvPr/>
        </p:nvSpPr>
        <p:spPr>
          <a:xfrm>
            <a:off x="777240" y="3502152"/>
            <a:ext cx="2971800" cy="502920"/>
          </a:xfrm>
          <a:prstGeom prst="rect">
            <a:avLst/>
          </a:prstGeom>
          <a:noFill/>
        </p:spPr>
        <p:txBody>
          <a:bodyPr wrap="square">
            <a:spAutoFit/>
          </a:bodyPr>
          <a:lstStyle/>
          <a:p>
            <a:pPr>
              <a:spcAft>
                <a:spcPts val="1200"/>
              </a:spcAft>
              <a:defRPr sz="2100" b="1">
                <a:solidFill>
                  <a:srgbClr val="301C3F"/>
                </a:solidFill>
                <a:latin typeface="Aptos"/>
              </a:defRPr>
            </a:pPr>
            <a:r>
              <a:t>Logistic Regression</a:t>
            </a:r>
          </a:p>
        </p:txBody>
      </p:sp>
      <p:sp>
        <p:nvSpPr>
          <p:cNvPr id="15" name="Rounded Rectangle 14"/>
          <p:cNvSpPr/>
          <p:nvPr/>
        </p:nvSpPr>
        <p:spPr>
          <a:xfrm>
            <a:off x="3794760" y="3593592"/>
            <a:ext cx="6217920" cy="292608"/>
          </a:xfrm>
          <a:prstGeom prst="roundRect">
            <a:avLst/>
          </a:prstGeom>
          <a:solidFill>
            <a:srgbClr val="F2E1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794760" y="3593592"/>
            <a:ext cx="5328757" cy="292608"/>
          </a:xfrm>
          <a:prstGeom prst="roundRect">
            <a:avLst/>
          </a:prstGeom>
          <a:solidFill>
            <a:srgbClr val="662E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87000" y="3502152"/>
            <a:ext cx="1097280" cy="457200"/>
          </a:xfrm>
          <a:prstGeom prst="rect">
            <a:avLst/>
          </a:prstGeom>
          <a:noFill/>
        </p:spPr>
        <p:txBody>
          <a:bodyPr wrap="square">
            <a:spAutoFit/>
          </a:bodyPr>
          <a:lstStyle/>
          <a:p>
            <a:pPr>
              <a:spcAft>
                <a:spcPts val="1200"/>
              </a:spcAft>
              <a:defRPr sz="2200" b="1">
                <a:solidFill>
                  <a:srgbClr val="662E84"/>
                </a:solidFill>
                <a:latin typeface="Aptos"/>
              </a:defRPr>
            </a:pPr>
            <a:r>
              <a:t>85.7%</a:t>
            </a:r>
          </a:p>
        </p:txBody>
      </p:sp>
      <p:sp>
        <p:nvSpPr>
          <p:cNvPr id="18" name="TextBox 17"/>
          <p:cNvSpPr txBox="1"/>
          <p:nvPr/>
        </p:nvSpPr>
        <p:spPr>
          <a:xfrm>
            <a:off x="777240" y="4489704"/>
            <a:ext cx="2971800" cy="502920"/>
          </a:xfrm>
          <a:prstGeom prst="rect">
            <a:avLst/>
          </a:prstGeom>
          <a:noFill/>
        </p:spPr>
        <p:txBody>
          <a:bodyPr wrap="square">
            <a:spAutoFit/>
          </a:bodyPr>
          <a:lstStyle/>
          <a:p>
            <a:pPr>
              <a:spcAft>
                <a:spcPts val="1200"/>
              </a:spcAft>
              <a:defRPr sz="2100" b="1">
                <a:solidFill>
                  <a:srgbClr val="301C3F"/>
                </a:solidFill>
                <a:latin typeface="Aptos"/>
              </a:defRPr>
            </a:pPr>
            <a:r>
              <a:t>Random Forest</a:t>
            </a:r>
          </a:p>
        </p:txBody>
      </p:sp>
      <p:sp>
        <p:nvSpPr>
          <p:cNvPr id="19" name="Rounded Rectangle 18"/>
          <p:cNvSpPr/>
          <p:nvPr/>
        </p:nvSpPr>
        <p:spPr>
          <a:xfrm>
            <a:off x="3794760" y="4581144"/>
            <a:ext cx="6217920" cy="292608"/>
          </a:xfrm>
          <a:prstGeom prst="roundRect">
            <a:avLst/>
          </a:prstGeom>
          <a:solidFill>
            <a:srgbClr val="F2E1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794760" y="4581144"/>
            <a:ext cx="5303885" cy="292608"/>
          </a:xfrm>
          <a:prstGeom prst="round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87000" y="4489704"/>
            <a:ext cx="1097280" cy="457200"/>
          </a:xfrm>
          <a:prstGeom prst="rect">
            <a:avLst/>
          </a:prstGeom>
          <a:noFill/>
        </p:spPr>
        <p:txBody>
          <a:bodyPr wrap="square">
            <a:spAutoFit/>
          </a:bodyPr>
          <a:lstStyle/>
          <a:p>
            <a:pPr>
              <a:spcAft>
                <a:spcPts val="1200"/>
              </a:spcAft>
              <a:defRPr sz="2200" b="1">
                <a:solidFill>
                  <a:srgbClr val="D13A8B"/>
                </a:solidFill>
                <a:latin typeface="Aptos"/>
              </a:defRPr>
            </a:pPr>
            <a:r>
              <a:t>85.3%</a:t>
            </a:r>
          </a:p>
        </p:txBody>
      </p:sp>
      <p:sp>
        <p:nvSpPr>
          <p:cNvPr id="22" name="TextBox 21"/>
          <p:cNvSpPr txBox="1"/>
          <p:nvPr/>
        </p:nvSpPr>
        <p:spPr>
          <a:xfrm>
            <a:off x="731520" y="5852160"/>
            <a:ext cx="10789920" cy="320040"/>
          </a:xfrm>
          <a:prstGeom prst="rect">
            <a:avLst/>
          </a:prstGeom>
          <a:noFill/>
        </p:spPr>
        <p:txBody>
          <a:bodyPr wrap="square">
            <a:spAutoFit/>
          </a:bodyPr>
          <a:lstStyle/>
          <a:p>
            <a:pPr>
              <a:spcAft>
                <a:spcPts val="1200"/>
              </a:spcAft>
              <a:defRPr sz="1500" b="0">
                <a:solidFill>
                  <a:srgbClr val="65556C"/>
                </a:solidFill>
                <a:latin typeface="Aptos"/>
              </a:defRPr>
            </a:pPr>
            <a:r>
              <a:t>Logistic Regression had slightly higher initial accuracy; Random Forest offered flexibility for tuning.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058400" cy="320040"/>
          </a:xfrm>
          <a:prstGeom prst="rect">
            <a:avLst/>
          </a:prstGeom>
          <a:noFill/>
        </p:spPr>
        <p:txBody>
          <a:bodyPr wrap="square">
            <a:spAutoFit/>
          </a:bodyPr>
          <a:lstStyle/>
          <a:p>
            <a:pPr>
              <a:spcAft>
                <a:spcPts val="1200"/>
              </a:spcAft>
              <a:defRPr sz="1200" b="1">
                <a:solidFill>
                  <a:srgbClr val="D13A8B"/>
                </a:solidFill>
                <a:latin typeface="Aptos"/>
              </a:defRPr>
            </a:pPr>
            <a:r>
              <a:t>WHY TUNE THE MODEL?</a:t>
            </a:r>
          </a:p>
        </p:txBody>
      </p:sp>
      <p:sp>
        <p:nvSpPr>
          <p:cNvPr id="5" name="TextBox 4"/>
          <p:cNvSpPr txBox="1"/>
          <p:nvPr/>
        </p:nvSpPr>
        <p:spPr>
          <a:xfrm>
            <a:off x="594360" y="749808"/>
            <a:ext cx="10972800" cy="914400"/>
          </a:xfrm>
          <a:prstGeom prst="rect">
            <a:avLst/>
          </a:prstGeom>
          <a:noFill/>
        </p:spPr>
        <p:txBody>
          <a:bodyPr wrap="square">
            <a:spAutoFit/>
          </a:bodyPr>
          <a:lstStyle/>
          <a:p>
            <a:pPr>
              <a:spcAft>
                <a:spcPts val="1200"/>
              </a:spcAft>
              <a:defRPr sz="3400" b="1">
                <a:solidFill>
                  <a:srgbClr val="301C3F"/>
                </a:solidFill>
                <a:latin typeface="Aptos"/>
              </a:defRPr>
            </a:pPr>
            <a:r>
              <a:t>Could Random Forest do better?</a:t>
            </a:r>
          </a:p>
        </p:txBody>
      </p:sp>
      <p:sp>
        <p:nvSpPr>
          <p:cNvPr id="6" name="TextBox 5"/>
          <p:cNvSpPr txBox="1"/>
          <p:nvPr/>
        </p:nvSpPr>
        <p:spPr>
          <a:xfrm>
            <a:off x="640080" y="1609344"/>
            <a:ext cx="10881360" cy="594360"/>
          </a:xfrm>
          <a:prstGeom prst="rect">
            <a:avLst/>
          </a:prstGeom>
          <a:noFill/>
        </p:spPr>
        <p:txBody>
          <a:bodyPr wrap="square">
            <a:spAutoFit/>
          </a:bodyPr>
          <a:lstStyle/>
          <a:p>
            <a:pPr>
              <a:spcAft>
                <a:spcPts val="1200"/>
              </a:spcAft>
              <a:defRPr sz="1700" b="0">
                <a:solidFill>
                  <a:srgbClr val="65556C"/>
                </a:solidFill>
                <a:latin typeface="Aptos"/>
              </a:defRPr>
            </a:pPr>
            <a:r>
              <a:t>GridSearchCV tested settings such as tree depth and number of trees.</a:t>
            </a:r>
          </a:p>
        </p:txBody>
      </p:sp>
      <p:sp>
        <p:nvSpPr>
          <p:cNvPr id="7" name="Rectangle 6"/>
          <p:cNvSpPr/>
          <p:nvPr/>
        </p:nvSpPr>
        <p:spPr>
          <a:xfrm>
            <a:off x="640080" y="6510528"/>
            <a:ext cx="10908792" cy="13716"/>
          </a:xfrm>
          <a:prstGeom prst="rect">
            <a:avLst/>
          </a:prstGeom>
          <a:solidFill>
            <a:srgbClr val="EAC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556248"/>
            <a:ext cx="7315200" cy="182880"/>
          </a:xfrm>
          <a:prstGeom prst="rect">
            <a:avLst/>
          </a:prstGeom>
          <a:noFill/>
        </p:spPr>
        <p:txBody>
          <a:bodyPr wrap="square">
            <a:spAutoFit/>
          </a:bodyPr>
          <a:lstStyle/>
          <a:p>
            <a:pPr>
              <a:spcAft>
                <a:spcPts val="1200"/>
              </a:spcAft>
              <a:defRPr sz="1000" b="0">
                <a:solidFill>
                  <a:srgbClr val="65556C"/>
                </a:solidFill>
                <a:latin typeface="Aptos"/>
              </a:defRPr>
            </a:pPr>
            <a:r>
              <a:t>FATMA ÇAKIR  •  HEART DISEASE PREDICTION</a:t>
            </a:r>
          </a:p>
        </p:txBody>
      </p:sp>
      <p:sp>
        <p:nvSpPr>
          <p:cNvPr id="9" name="TextBox 8"/>
          <p:cNvSpPr txBox="1"/>
          <p:nvPr/>
        </p:nvSpPr>
        <p:spPr>
          <a:xfrm>
            <a:off x="11018520" y="6556248"/>
            <a:ext cx="457200" cy="182880"/>
          </a:xfrm>
          <a:prstGeom prst="rect">
            <a:avLst/>
          </a:prstGeom>
          <a:noFill/>
        </p:spPr>
        <p:txBody>
          <a:bodyPr wrap="square">
            <a:spAutoFit/>
          </a:bodyPr>
          <a:lstStyle/>
          <a:p>
            <a:pPr>
              <a:spcAft>
                <a:spcPts val="1200"/>
              </a:spcAft>
              <a:defRPr sz="1000" b="0">
                <a:solidFill>
                  <a:srgbClr val="65556C"/>
                </a:solidFill>
                <a:latin typeface="Aptos"/>
              </a:defRPr>
            </a:pPr>
            <a:r>
              <a:t>06</a:t>
            </a:r>
          </a:p>
        </p:txBody>
      </p:sp>
      <p:sp>
        <p:nvSpPr>
          <p:cNvPr id="10" name="Rounded Rectangle 9"/>
          <p:cNvSpPr/>
          <p:nvPr/>
        </p:nvSpPr>
        <p:spPr>
          <a:xfrm>
            <a:off x="731520" y="2423160"/>
            <a:ext cx="10744200" cy="3200400"/>
          </a:xfrm>
          <a:prstGeom prst="roundRect">
            <a:avLst/>
          </a:prstGeom>
          <a:solidFill>
            <a:srgbClr val="F8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788920"/>
            <a:ext cx="4937760" cy="640080"/>
          </a:xfrm>
          <a:prstGeom prst="rect">
            <a:avLst/>
          </a:prstGeom>
          <a:noFill/>
        </p:spPr>
        <p:txBody>
          <a:bodyPr wrap="square">
            <a:spAutoFit/>
          </a:bodyPr>
          <a:lstStyle/>
          <a:p>
            <a:pPr>
              <a:spcAft>
                <a:spcPts val="1200"/>
              </a:spcAft>
              <a:defRPr sz="3000" b="1">
                <a:solidFill>
                  <a:srgbClr val="662E84"/>
                </a:solidFill>
                <a:latin typeface="Aptos"/>
              </a:defRPr>
            </a:pPr>
            <a:r>
              <a:t>5-fold CV</a:t>
            </a:r>
          </a:p>
        </p:txBody>
      </p:sp>
      <p:sp>
        <p:nvSpPr>
          <p:cNvPr id="12" name="TextBox 11"/>
          <p:cNvSpPr txBox="1"/>
          <p:nvPr/>
        </p:nvSpPr>
        <p:spPr>
          <a:xfrm>
            <a:off x="1143000" y="3703320"/>
            <a:ext cx="5029200" cy="1188720"/>
          </a:xfrm>
          <a:prstGeom prst="rect">
            <a:avLst/>
          </a:prstGeom>
          <a:noFill/>
        </p:spPr>
        <p:txBody>
          <a:bodyPr wrap="square">
            <a:spAutoFit/>
          </a:bodyPr>
          <a:lstStyle/>
          <a:p>
            <a:pPr>
              <a:spcAft>
                <a:spcPts val="1200"/>
              </a:spcAft>
              <a:defRPr sz="2000" b="0">
                <a:solidFill>
                  <a:srgbClr val="301C3F"/>
                </a:solidFill>
                <a:latin typeface="Aptos"/>
              </a:defRPr>
            </a:pPr>
            <a:r>
              <a:t>Repeated validation on training data to compare settings.</a:t>
            </a:r>
          </a:p>
        </p:txBody>
      </p:sp>
      <p:sp>
        <p:nvSpPr>
          <p:cNvPr id="13" name="Rectangle 12"/>
          <p:cNvSpPr/>
          <p:nvPr/>
        </p:nvSpPr>
        <p:spPr>
          <a:xfrm>
            <a:off x="6428232" y="2770632"/>
            <a:ext cx="22860" cy="2148840"/>
          </a:xfrm>
          <a:prstGeom prst="rect">
            <a:avLst/>
          </a:prstGeom>
          <a:solidFill>
            <a:srgbClr val="DEB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03720" y="2788920"/>
            <a:ext cx="4297680" cy="640080"/>
          </a:xfrm>
          <a:prstGeom prst="rect">
            <a:avLst/>
          </a:prstGeom>
          <a:noFill/>
        </p:spPr>
        <p:txBody>
          <a:bodyPr wrap="square">
            <a:spAutoFit/>
          </a:bodyPr>
          <a:lstStyle/>
          <a:p>
            <a:pPr>
              <a:spcAft>
                <a:spcPts val="1200"/>
              </a:spcAft>
              <a:defRPr sz="3700" b="1">
                <a:solidFill>
                  <a:srgbClr val="D13A8B"/>
                </a:solidFill>
                <a:latin typeface="Aptos"/>
              </a:defRPr>
            </a:pPr>
            <a:r>
              <a:t>0.933</a:t>
            </a:r>
          </a:p>
        </p:txBody>
      </p:sp>
      <p:sp>
        <p:nvSpPr>
          <p:cNvPr id="15" name="TextBox 14"/>
          <p:cNvSpPr txBox="1"/>
          <p:nvPr/>
        </p:nvSpPr>
        <p:spPr>
          <a:xfrm>
            <a:off x="6903720" y="3703320"/>
            <a:ext cx="4114800" cy="1188720"/>
          </a:xfrm>
          <a:prstGeom prst="rect">
            <a:avLst/>
          </a:prstGeom>
          <a:noFill/>
        </p:spPr>
        <p:txBody>
          <a:bodyPr wrap="square">
            <a:spAutoFit/>
          </a:bodyPr>
          <a:lstStyle/>
          <a:p>
            <a:pPr>
              <a:spcAft>
                <a:spcPts val="1200"/>
              </a:spcAft>
              <a:defRPr sz="1900" b="0">
                <a:solidFill>
                  <a:srgbClr val="301C3F"/>
                </a:solidFill>
                <a:latin typeface="Aptos"/>
              </a:defRPr>
            </a:pPr>
            <a:r>
              <a:t>Best cross-validation ROC-AUC for tuned Random Forest.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058400" cy="320040"/>
          </a:xfrm>
          <a:prstGeom prst="rect">
            <a:avLst/>
          </a:prstGeom>
          <a:noFill/>
        </p:spPr>
        <p:txBody>
          <a:bodyPr wrap="square">
            <a:spAutoFit/>
          </a:bodyPr>
          <a:lstStyle/>
          <a:p>
            <a:pPr>
              <a:spcAft>
                <a:spcPts val="1200"/>
              </a:spcAft>
              <a:defRPr sz="1200" b="1">
                <a:solidFill>
                  <a:srgbClr val="D13A8B"/>
                </a:solidFill>
                <a:latin typeface="Aptos"/>
              </a:defRPr>
            </a:pPr>
            <a:r>
              <a:t>MAIN FINDING</a:t>
            </a:r>
          </a:p>
        </p:txBody>
      </p:sp>
      <p:sp>
        <p:nvSpPr>
          <p:cNvPr id="5" name="TextBox 4"/>
          <p:cNvSpPr txBox="1"/>
          <p:nvPr/>
        </p:nvSpPr>
        <p:spPr>
          <a:xfrm>
            <a:off x="594360" y="749808"/>
            <a:ext cx="10972800" cy="914400"/>
          </a:xfrm>
          <a:prstGeom prst="rect">
            <a:avLst/>
          </a:prstGeom>
          <a:noFill/>
        </p:spPr>
        <p:txBody>
          <a:bodyPr wrap="square">
            <a:spAutoFit/>
          </a:bodyPr>
          <a:lstStyle/>
          <a:p>
            <a:pPr>
              <a:spcAft>
                <a:spcPts val="1200"/>
              </a:spcAft>
              <a:defRPr sz="3400" b="1">
                <a:solidFill>
                  <a:srgbClr val="301C3F"/>
                </a:solidFill>
                <a:latin typeface="Aptos"/>
              </a:defRPr>
            </a:pPr>
            <a:r>
              <a:t>The tuned model found 94% of positive cases</a:t>
            </a:r>
          </a:p>
        </p:txBody>
      </p:sp>
      <p:sp>
        <p:nvSpPr>
          <p:cNvPr id="6" name="TextBox 5"/>
          <p:cNvSpPr txBox="1"/>
          <p:nvPr/>
        </p:nvSpPr>
        <p:spPr>
          <a:xfrm>
            <a:off x="640080" y="1609344"/>
            <a:ext cx="10881360" cy="594360"/>
          </a:xfrm>
          <a:prstGeom prst="rect">
            <a:avLst/>
          </a:prstGeom>
          <a:noFill/>
        </p:spPr>
        <p:txBody>
          <a:bodyPr wrap="square">
            <a:spAutoFit/>
          </a:bodyPr>
          <a:lstStyle/>
          <a:p>
            <a:pPr>
              <a:spcAft>
                <a:spcPts val="1200"/>
              </a:spcAft>
              <a:defRPr sz="1700" b="0">
                <a:solidFill>
                  <a:srgbClr val="65556C"/>
                </a:solidFill>
                <a:latin typeface="Aptos"/>
              </a:defRPr>
            </a:pPr>
            <a:r>
              <a:t>Results on 184 held-out records — data not used for training.</a:t>
            </a:r>
          </a:p>
        </p:txBody>
      </p:sp>
      <p:sp>
        <p:nvSpPr>
          <p:cNvPr id="7" name="Rectangle 6"/>
          <p:cNvSpPr/>
          <p:nvPr/>
        </p:nvSpPr>
        <p:spPr>
          <a:xfrm>
            <a:off x="640080" y="6510528"/>
            <a:ext cx="10908792" cy="13716"/>
          </a:xfrm>
          <a:prstGeom prst="rect">
            <a:avLst/>
          </a:prstGeom>
          <a:solidFill>
            <a:srgbClr val="EAC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556248"/>
            <a:ext cx="7315200" cy="182880"/>
          </a:xfrm>
          <a:prstGeom prst="rect">
            <a:avLst/>
          </a:prstGeom>
          <a:noFill/>
        </p:spPr>
        <p:txBody>
          <a:bodyPr wrap="square">
            <a:spAutoFit/>
          </a:bodyPr>
          <a:lstStyle/>
          <a:p>
            <a:pPr>
              <a:spcAft>
                <a:spcPts val="1200"/>
              </a:spcAft>
              <a:defRPr sz="1000" b="0">
                <a:solidFill>
                  <a:srgbClr val="65556C"/>
                </a:solidFill>
                <a:latin typeface="Aptos"/>
              </a:defRPr>
            </a:pPr>
            <a:r>
              <a:t>FATMA ÇAKIR  •  HEART DISEASE PREDICTION</a:t>
            </a:r>
          </a:p>
        </p:txBody>
      </p:sp>
      <p:sp>
        <p:nvSpPr>
          <p:cNvPr id="9" name="TextBox 8"/>
          <p:cNvSpPr txBox="1"/>
          <p:nvPr/>
        </p:nvSpPr>
        <p:spPr>
          <a:xfrm>
            <a:off x="11018520" y="6556248"/>
            <a:ext cx="457200" cy="182880"/>
          </a:xfrm>
          <a:prstGeom prst="rect">
            <a:avLst/>
          </a:prstGeom>
          <a:noFill/>
        </p:spPr>
        <p:txBody>
          <a:bodyPr wrap="square">
            <a:spAutoFit/>
          </a:bodyPr>
          <a:lstStyle/>
          <a:p>
            <a:pPr>
              <a:spcAft>
                <a:spcPts val="1200"/>
              </a:spcAft>
              <a:defRPr sz="1000" b="0">
                <a:solidFill>
                  <a:srgbClr val="65556C"/>
                </a:solidFill>
                <a:latin typeface="Aptos"/>
              </a:defRPr>
            </a:pPr>
            <a:r>
              <a:t>07</a:t>
            </a:r>
          </a:p>
        </p:txBody>
      </p:sp>
      <p:sp>
        <p:nvSpPr>
          <p:cNvPr id="10" name="Rounded Rectangle 9"/>
          <p:cNvSpPr/>
          <p:nvPr/>
        </p:nvSpPr>
        <p:spPr>
          <a:xfrm>
            <a:off x="658368" y="2514600"/>
            <a:ext cx="3447288"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898648"/>
            <a:ext cx="3108960" cy="822960"/>
          </a:xfrm>
          <a:prstGeom prst="rect">
            <a:avLst/>
          </a:prstGeom>
          <a:noFill/>
        </p:spPr>
        <p:txBody>
          <a:bodyPr wrap="square">
            <a:spAutoFit/>
          </a:bodyPr>
          <a:lstStyle/>
          <a:p>
            <a:pPr algn="ctr">
              <a:spcAft>
                <a:spcPts val="1200"/>
              </a:spcAft>
              <a:defRPr sz="3900" b="1">
                <a:solidFill>
                  <a:srgbClr val="662E84"/>
                </a:solidFill>
                <a:latin typeface="Aptos"/>
              </a:defRPr>
            </a:pPr>
            <a:r>
              <a:t>89.1%</a:t>
            </a:r>
          </a:p>
        </p:txBody>
      </p:sp>
      <p:sp>
        <p:nvSpPr>
          <p:cNvPr id="12" name="TextBox 11"/>
          <p:cNvSpPr txBox="1"/>
          <p:nvPr/>
        </p:nvSpPr>
        <p:spPr>
          <a:xfrm>
            <a:off x="841247" y="3913632"/>
            <a:ext cx="3108960" cy="411480"/>
          </a:xfrm>
          <a:prstGeom prst="rect">
            <a:avLst/>
          </a:prstGeom>
          <a:noFill/>
        </p:spPr>
        <p:txBody>
          <a:bodyPr wrap="square">
            <a:spAutoFit/>
          </a:bodyPr>
          <a:lstStyle/>
          <a:p>
            <a:pPr algn="ctr">
              <a:spcAft>
                <a:spcPts val="1200"/>
              </a:spcAft>
              <a:defRPr sz="2000" b="0">
                <a:solidFill>
                  <a:srgbClr val="65556C"/>
                </a:solidFill>
                <a:latin typeface="Aptos"/>
              </a:defRPr>
            </a:pPr>
            <a:r>
              <a:t>Accuracy</a:t>
            </a:r>
          </a:p>
        </p:txBody>
      </p:sp>
      <p:sp>
        <p:nvSpPr>
          <p:cNvPr id="13" name="Rounded Rectangle 12"/>
          <p:cNvSpPr/>
          <p:nvPr/>
        </p:nvSpPr>
        <p:spPr>
          <a:xfrm>
            <a:off x="4425696" y="2514600"/>
            <a:ext cx="3447288"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8576" y="2898648"/>
            <a:ext cx="3108960" cy="822960"/>
          </a:xfrm>
          <a:prstGeom prst="rect">
            <a:avLst/>
          </a:prstGeom>
          <a:noFill/>
        </p:spPr>
        <p:txBody>
          <a:bodyPr wrap="square">
            <a:spAutoFit/>
          </a:bodyPr>
          <a:lstStyle/>
          <a:p>
            <a:pPr algn="ctr">
              <a:spcAft>
                <a:spcPts val="1200"/>
              </a:spcAft>
              <a:defRPr sz="3900" b="1">
                <a:solidFill>
                  <a:srgbClr val="D13A8B"/>
                </a:solidFill>
                <a:latin typeface="Aptos"/>
              </a:defRPr>
            </a:pPr>
            <a:r>
              <a:t>94.1%</a:t>
            </a:r>
          </a:p>
        </p:txBody>
      </p:sp>
      <p:sp>
        <p:nvSpPr>
          <p:cNvPr id="15" name="TextBox 14"/>
          <p:cNvSpPr txBox="1"/>
          <p:nvPr/>
        </p:nvSpPr>
        <p:spPr>
          <a:xfrm>
            <a:off x="4608576" y="3913632"/>
            <a:ext cx="3108960" cy="411480"/>
          </a:xfrm>
          <a:prstGeom prst="rect">
            <a:avLst/>
          </a:prstGeom>
          <a:noFill/>
        </p:spPr>
        <p:txBody>
          <a:bodyPr wrap="square">
            <a:spAutoFit/>
          </a:bodyPr>
          <a:lstStyle/>
          <a:p>
            <a:pPr algn="ctr">
              <a:spcAft>
                <a:spcPts val="1200"/>
              </a:spcAft>
              <a:defRPr sz="2000" b="0">
                <a:solidFill>
                  <a:srgbClr val="65556C"/>
                </a:solidFill>
                <a:latin typeface="Aptos"/>
              </a:defRPr>
            </a:pPr>
            <a:r>
              <a:t>Recall</a:t>
            </a:r>
          </a:p>
        </p:txBody>
      </p:sp>
      <p:sp>
        <p:nvSpPr>
          <p:cNvPr id="16" name="Rounded Rectangle 15"/>
          <p:cNvSpPr/>
          <p:nvPr/>
        </p:nvSpPr>
        <p:spPr>
          <a:xfrm>
            <a:off x="8193024" y="2514600"/>
            <a:ext cx="3447288"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2898648"/>
            <a:ext cx="3108960" cy="822960"/>
          </a:xfrm>
          <a:prstGeom prst="rect">
            <a:avLst/>
          </a:prstGeom>
          <a:noFill/>
        </p:spPr>
        <p:txBody>
          <a:bodyPr wrap="square">
            <a:spAutoFit/>
          </a:bodyPr>
          <a:lstStyle/>
          <a:p>
            <a:pPr algn="ctr">
              <a:spcAft>
                <a:spcPts val="1200"/>
              </a:spcAft>
              <a:defRPr sz="3900" b="1">
                <a:solidFill>
                  <a:srgbClr val="C83F69"/>
                </a:solidFill>
                <a:latin typeface="Aptos"/>
              </a:defRPr>
            </a:pPr>
            <a:r>
              <a:t>0.938</a:t>
            </a:r>
          </a:p>
        </p:txBody>
      </p:sp>
      <p:sp>
        <p:nvSpPr>
          <p:cNvPr id="18" name="TextBox 17"/>
          <p:cNvSpPr txBox="1"/>
          <p:nvPr/>
        </p:nvSpPr>
        <p:spPr>
          <a:xfrm>
            <a:off x="8375904" y="3913632"/>
            <a:ext cx="3108960" cy="411480"/>
          </a:xfrm>
          <a:prstGeom prst="rect">
            <a:avLst/>
          </a:prstGeom>
          <a:noFill/>
        </p:spPr>
        <p:txBody>
          <a:bodyPr wrap="square">
            <a:spAutoFit/>
          </a:bodyPr>
          <a:lstStyle/>
          <a:p>
            <a:pPr algn="ctr">
              <a:spcAft>
                <a:spcPts val="1200"/>
              </a:spcAft>
              <a:defRPr sz="2000" b="0">
                <a:solidFill>
                  <a:srgbClr val="65556C"/>
                </a:solidFill>
                <a:latin typeface="Aptos"/>
              </a:defRPr>
            </a:pPr>
            <a:r>
              <a:t>ROC-AUC</a:t>
            </a:r>
          </a:p>
        </p:txBody>
      </p:sp>
      <p:sp>
        <p:nvSpPr>
          <p:cNvPr id="19" name="TextBox 18"/>
          <p:cNvSpPr txBox="1"/>
          <p:nvPr/>
        </p:nvSpPr>
        <p:spPr>
          <a:xfrm>
            <a:off x="822960" y="5184648"/>
            <a:ext cx="10789920" cy="777240"/>
          </a:xfrm>
          <a:prstGeom prst="rect">
            <a:avLst/>
          </a:prstGeom>
          <a:noFill/>
        </p:spPr>
        <p:txBody>
          <a:bodyPr wrap="square">
            <a:spAutoFit/>
          </a:bodyPr>
          <a:lstStyle/>
          <a:p>
            <a:pPr>
              <a:spcAft>
                <a:spcPts val="1200"/>
              </a:spcAft>
              <a:defRPr sz="2000" b="1">
                <a:solidFill>
                  <a:srgbClr val="301C3F"/>
                </a:solidFill>
                <a:latin typeface="Aptos"/>
              </a:defRPr>
            </a:pPr>
            <a:r>
              <a:t>Recall matters here: it measures how many truly positive cases the model identifies.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058400" cy="320040"/>
          </a:xfrm>
          <a:prstGeom prst="rect">
            <a:avLst/>
          </a:prstGeom>
          <a:noFill/>
        </p:spPr>
        <p:txBody>
          <a:bodyPr wrap="square">
            <a:spAutoFit/>
          </a:bodyPr>
          <a:lstStyle/>
          <a:p>
            <a:pPr>
              <a:spcAft>
                <a:spcPts val="1200"/>
              </a:spcAft>
              <a:defRPr sz="1200" b="1">
                <a:solidFill>
                  <a:srgbClr val="D13A8B"/>
                </a:solidFill>
                <a:latin typeface="Aptos"/>
              </a:defRPr>
            </a:pPr>
            <a:r>
              <a:t>BEYOND ACCURACY</a:t>
            </a:r>
          </a:p>
        </p:txBody>
      </p:sp>
      <p:sp>
        <p:nvSpPr>
          <p:cNvPr id="5" name="TextBox 4"/>
          <p:cNvSpPr txBox="1"/>
          <p:nvPr/>
        </p:nvSpPr>
        <p:spPr>
          <a:xfrm>
            <a:off x="594360" y="749808"/>
            <a:ext cx="10972800" cy="914400"/>
          </a:xfrm>
          <a:prstGeom prst="rect">
            <a:avLst/>
          </a:prstGeom>
          <a:noFill/>
        </p:spPr>
        <p:txBody>
          <a:bodyPr wrap="square">
            <a:spAutoFit/>
          </a:bodyPr>
          <a:lstStyle/>
          <a:p>
            <a:pPr>
              <a:spcAft>
                <a:spcPts val="1200"/>
              </a:spcAft>
              <a:defRPr sz="3400" b="1">
                <a:solidFill>
                  <a:srgbClr val="301C3F"/>
                </a:solidFill>
                <a:latin typeface="Aptos"/>
              </a:defRPr>
            </a:pPr>
            <a:r>
              <a:t>Where did my model make mistakes?</a:t>
            </a:r>
          </a:p>
        </p:txBody>
      </p:sp>
      <p:sp>
        <p:nvSpPr>
          <p:cNvPr id="6" name="TextBox 5"/>
          <p:cNvSpPr txBox="1"/>
          <p:nvPr/>
        </p:nvSpPr>
        <p:spPr>
          <a:xfrm>
            <a:off x="640080" y="1609344"/>
            <a:ext cx="10881360" cy="594360"/>
          </a:xfrm>
          <a:prstGeom prst="rect">
            <a:avLst/>
          </a:prstGeom>
          <a:noFill/>
        </p:spPr>
        <p:txBody>
          <a:bodyPr wrap="square">
            <a:spAutoFit/>
          </a:bodyPr>
          <a:lstStyle/>
          <a:p>
            <a:pPr>
              <a:spcAft>
                <a:spcPts val="1200"/>
              </a:spcAft>
              <a:defRPr sz="1700" b="0">
                <a:solidFill>
                  <a:srgbClr val="65556C"/>
                </a:solidFill>
                <a:latin typeface="Aptos"/>
              </a:defRPr>
            </a:pPr>
            <a:r>
              <a:t>Confusion matrix and ROC curve show what one accuracy number cannot.</a:t>
            </a:r>
          </a:p>
        </p:txBody>
      </p:sp>
      <p:sp>
        <p:nvSpPr>
          <p:cNvPr id="7" name="Rectangle 6"/>
          <p:cNvSpPr/>
          <p:nvPr/>
        </p:nvSpPr>
        <p:spPr>
          <a:xfrm>
            <a:off x="640080" y="6510528"/>
            <a:ext cx="10908792" cy="13716"/>
          </a:xfrm>
          <a:prstGeom prst="rect">
            <a:avLst/>
          </a:prstGeom>
          <a:solidFill>
            <a:srgbClr val="EAC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556248"/>
            <a:ext cx="7315200" cy="182880"/>
          </a:xfrm>
          <a:prstGeom prst="rect">
            <a:avLst/>
          </a:prstGeom>
          <a:noFill/>
        </p:spPr>
        <p:txBody>
          <a:bodyPr wrap="square">
            <a:spAutoFit/>
          </a:bodyPr>
          <a:lstStyle/>
          <a:p>
            <a:pPr>
              <a:spcAft>
                <a:spcPts val="1200"/>
              </a:spcAft>
              <a:defRPr sz="1000" b="0">
                <a:solidFill>
                  <a:srgbClr val="65556C"/>
                </a:solidFill>
                <a:latin typeface="Aptos"/>
              </a:defRPr>
            </a:pPr>
            <a:r>
              <a:t>FATMA ÇAKIR  •  HEART DISEASE PREDICTION</a:t>
            </a:r>
          </a:p>
        </p:txBody>
      </p:sp>
      <p:sp>
        <p:nvSpPr>
          <p:cNvPr id="9" name="TextBox 8"/>
          <p:cNvSpPr txBox="1"/>
          <p:nvPr/>
        </p:nvSpPr>
        <p:spPr>
          <a:xfrm>
            <a:off x="11018520" y="6556248"/>
            <a:ext cx="457200" cy="182880"/>
          </a:xfrm>
          <a:prstGeom prst="rect">
            <a:avLst/>
          </a:prstGeom>
          <a:noFill/>
        </p:spPr>
        <p:txBody>
          <a:bodyPr wrap="square">
            <a:spAutoFit/>
          </a:bodyPr>
          <a:lstStyle/>
          <a:p>
            <a:pPr>
              <a:spcAft>
                <a:spcPts val="1200"/>
              </a:spcAft>
              <a:defRPr sz="1000" b="0">
                <a:solidFill>
                  <a:srgbClr val="65556C"/>
                </a:solidFill>
                <a:latin typeface="Aptos"/>
              </a:defRPr>
            </a:pPr>
            <a:r>
              <a:t>08</a:t>
            </a:r>
          </a:p>
        </p:txBody>
      </p:sp>
      <p:pic>
        <p:nvPicPr>
          <p:cNvPr id="10" name="Picture 9" descr="confusion_matrix.png"/>
          <p:cNvPicPr>
            <a:picLocks noChangeAspect="1"/>
          </p:cNvPicPr>
          <p:nvPr/>
        </p:nvPicPr>
        <p:blipFill>
          <a:blip r:embed="rId2"/>
          <a:stretch>
            <a:fillRect/>
          </a:stretch>
        </p:blipFill>
        <p:spPr>
          <a:xfrm>
            <a:off x="731520" y="2331720"/>
            <a:ext cx="5166360" cy="3337560"/>
          </a:xfrm>
          <a:prstGeom prst="rect">
            <a:avLst/>
          </a:prstGeom>
        </p:spPr>
      </p:pic>
      <p:pic>
        <p:nvPicPr>
          <p:cNvPr id="11" name="Picture 10" descr="roc_curve.png"/>
          <p:cNvPicPr>
            <a:picLocks noChangeAspect="1"/>
          </p:cNvPicPr>
          <p:nvPr/>
        </p:nvPicPr>
        <p:blipFill>
          <a:blip r:embed="rId3"/>
          <a:stretch>
            <a:fillRect/>
          </a:stretch>
        </p:blipFill>
        <p:spPr>
          <a:xfrm>
            <a:off x="6263640" y="2331720"/>
            <a:ext cx="5166360" cy="3337560"/>
          </a:xfrm>
          <a:prstGeom prst="rect">
            <a:avLst/>
          </a:prstGeom>
        </p:spPr>
      </p:pic>
      <p:sp>
        <p:nvSpPr>
          <p:cNvPr id="12" name="TextBox 11"/>
          <p:cNvSpPr txBox="1"/>
          <p:nvPr/>
        </p:nvSpPr>
        <p:spPr>
          <a:xfrm>
            <a:off x="914400" y="5824728"/>
            <a:ext cx="10241280" cy="411480"/>
          </a:xfrm>
          <a:prstGeom prst="rect">
            <a:avLst/>
          </a:prstGeom>
          <a:noFill/>
        </p:spPr>
        <p:txBody>
          <a:bodyPr wrap="square">
            <a:spAutoFit/>
          </a:bodyPr>
          <a:lstStyle/>
          <a:p>
            <a:pPr>
              <a:spcAft>
                <a:spcPts val="1200"/>
              </a:spcAft>
              <a:defRPr sz="1800" b="1">
                <a:solidFill>
                  <a:srgbClr val="662E84"/>
                </a:solidFill>
                <a:latin typeface="Aptos"/>
              </a:defRPr>
            </a:pPr>
            <a:r>
              <a:t>Mistakes still occur; evaluating false negatives is essential.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058400" cy="320040"/>
          </a:xfrm>
          <a:prstGeom prst="rect">
            <a:avLst/>
          </a:prstGeom>
          <a:noFill/>
        </p:spPr>
        <p:txBody>
          <a:bodyPr wrap="square">
            <a:spAutoFit/>
          </a:bodyPr>
          <a:lstStyle/>
          <a:p>
            <a:pPr>
              <a:spcAft>
                <a:spcPts val="1200"/>
              </a:spcAft>
              <a:defRPr sz="1200" b="1">
                <a:solidFill>
                  <a:srgbClr val="D13A8B"/>
                </a:solidFill>
                <a:latin typeface="Aptos"/>
              </a:defRPr>
            </a:pPr>
            <a:r>
              <a:t>THE MEANING</a:t>
            </a:r>
          </a:p>
        </p:txBody>
      </p:sp>
      <p:sp>
        <p:nvSpPr>
          <p:cNvPr id="5" name="TextBox 4"/>
          <p:cNvSpPr txBox="1"/>
          <p:nvPr/>
        </p:nvSpPr>
        <p:spPr>
          <a:xfrm>
            <a:off x="594360" y="749808"/>
            <a:ext cx="10972800" cy="914400"/>
          </a:xfrm>
          <a:prstGeom prst="rect">
            <a:avLst/>
          </a:prstGeom>
          <a:noFill/>
        </p:spPr>
        <p:txBody>
          <a:bodyPr wrap="square">
            <a:spAutoFit/>
          </a:bodyPr>
          <a:lstStyle/>
          <a:p>
            <a:pPr>
              <a:spcAft>
                <a:spcPts val="1200"/>
              </a:spcAft>
              <a:defRPr sz="3400" b="1">
                <a:solidFill>
                  <a:srgbClr val="301C3F"/>
                </a:solidFill>
                <a:latin typeface="Aptos"/>
              </a:defRPr>
            </a:pPr>
            <a:r>
              <a:t>Promising patterns ≠ clinical readiness</a:t>
            </a:r>
          </a:p>
        </p:txBody>
      </p:sp>
      <p:sp>
        <p:nvSpPr>
          <p:cNvPr id="6" name="TextBox 5"/>
          <p:cNvSpPr txBox="1"/>
          <p:nvPr/>
        </p:nvSpPr>
        <p:spPr>
          <a:xfrm>
            <a:off x="640080" y="1609344"/>
            <a:ext cx="10881360" cy="594360"/>
          </a:xfrm>
          <a:prstGeom prst="rect">
            <a:avLst/>
          </a:prstGeom>
          <a:noFill/>
        </p:spPr>
        <p:txBody>
          <a:bodyPr wrap="square">
            <a:spAutoFit/>
          </a:bodyPr>
          <a:lstStyle/>
          <a:p>
            <a:pPr>
              <a:spcAft>
                <a:spcPts val="1200"/>
              </a:spcAft>
              <a:defRPr sz="1700" b="0">
                <a:solidFill>
                  <a:srgbClr val="65556C"/>
                </a:solidFill>
                <a:latin typeface="Aptos"/>
              </a:defRPr>
            </a:pPr>
            <a:r>
              <a:t>A strong score on one dataset is not enough to support medical decisions.</a:t>
            </a:r>
          </a:p>
        </p:txBody>
      </p:sp>
      <p:sp>
        <p:nvSpPr>
          <p:cNvPr id="7" name="Rectangle 6"/>
          <p:cNvSpPr/>
          <p:nvPr/>
        </p:nvSpPr>
        <p:spPr>
          <a:xfrm>
            <a:off x="640080" y="6510528"/>
            <a:ext cx="10908792" cy="13716"/>
          </a:xfrm>
          <a:prstGeom prst="rect">
            <a:avLst/>
          </a:prstGeom>
          <a:solidFill>
            <a:srgbClr val="EAC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556248"/>
            <a:ext cx="7315200" cy="182880"/>
          </a:xfrm>
          <a:prstGeom prst="rect">
            <a:avLst/>
          </a:prstGeom>
          <a:noFill/>
        </p:spPr>
        <p:txBody>
          <a:bodyPr wrap="square">
            <a:spAutoFit/>
          </a:bodyPr>
          <a:lstStyle/>
          <a:p>
            <a:pPr>
              <a:spcAft>
                <a:spcPts val="1200"/>
              </a:spcAft>
              <a:defRPr sz="1000" b="0">
                <a:solidFill>
                  <a:srgbClr val="65556C"/>
                </a:solidFill>
                <a:latin typeface="Aptos"/>
              </a:defRPr>
            </a:pPr>
            <a:r>
              <a:t>FATMA ÇAKIR  •  HEART DISEASE PREDICTION</a:t>
            </a:r>
          </a:p>
        </p:txBody>
      </p:sp>
      <p:sp>
        <p:nvSpPr>
          <p:cNvPr id="9" name="TextBox 8"/>
          <p:cNvSpPr txBox="1"/>
          <p:nvPr/>
        </p:nvSpPr>
        <p:spPr>
          <a:xfrm>
            <a:off x="11018520" y="6556248"/>
            <a:ext cx="457200" cy="182880"/>
          </a:xfrm>
          <a:prstGeom prst="rect">
            <a:avLst/>
          </a:prstGeom>
          <a:noFill/>
        </p:spPr>
        <p:txBody>
          <a:bodyPr wrap="square">
            <a:spAutoFit/>
          </a:bodyPr>
          <a:lstStyle/>
          <a:p>
            <a:pPr>
              <a:spcAft>
                <a:spcPts val="1200"/>
              </a:spcAft>
              <a:defRPr sz="1000" b="0">
                <a:solidFill>
                  <a:srgbClr val="65556C"/>
                </a:solidFill>
                <a:latin typeface="Aptos"/>
              </a:defRPr>
            </a:pPr>
            <a:r>
              <a:t>09</a:t>
            </a:r>
          </a:p>
        </p:txBody>
      </p:sp>
      <p:sp>
        <p:nvSpPr>
          <p:cNvPr id="10" name="Rounded Rectangle 9"/>
          <p:cNvSpPr/>
          <p:nvPr/>
        </p:nvSpPr>
        <p:spPr>
          <a:xfrm>
            <a:off x="640080" y="2423160"/>
            <a:ext cx="5285232"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423160"/>
            <a:ext cx="77724" cy="3200400"/>
          </a:xfrm>
          <a:prstGeom prst="rect">
            <a:avLst/>
          </a:prstGeom>
          <a:solidFill>
            <a:srgbClr val="662E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624328"/>
            <a:ext cx="4809744" cy="594360"/>
          </a:xfrm>
          <a:prstGeom prst="rect">
            <a:avLst/>
          </a:prstGeom>
          <a:noFill/>
        </p:spPr>
        <p:txBody>
          <a:bodyPr wrap="square">
            <a:spAutoFit/>
          </a:bodyPr>
          <a:lstStyle/>
          <a:p>
            <a:pPr>
              <a:spcAft>
                <a:spcPts val="1200"/>
              </a:spcAft>
              <a:defRPr sz="2200" b="1">
                <a:solidFill>
                  <a:srgbClr val="662E84"/>
                </a:solidFill>
                <a:latin typeface="Aptos"/>
              </a:defRPr>
            </a:pPr>
            <a:r>
              <a:t>WHAT I FOUND</a:t>
            </a:r>
          </a:p>
        </p:txBody>
      </p:sp>
      <p:sp>
        <p:nvSpPr>
          <p:cNvPr id="13" name="TextBox 12"/>
          <p:cNvSpPr txBox="1"/>
          <p:nvPr/>
        </p:nvSpPr>
        <p:spPr>
          <a:xfrm>
            <a:off x="886968" y="3337560"/>
            <a:ext cx="4828032" cy="2240280"/>
          </a:xfrm>
          <a:prstGeom prst="rect">
            <a:avLst/>
          </a:prstGeom>
          <a:noFill/>
        </p:spPr>
        <p:txBody>
          <a:bodyPr wrap="square">
            <a:spAutoFit/>
          </a:bodyPr>
          <a:lstStyle/>
          <a:p>
            <a:pPr>
              <a:spcAft>
                <a:spcPts val="1200"/>
              </a:spcAft>
              <a:defRPr sz="1900" b="0">
                <a:solidFill>
                  <a:srgbClr val="301C3F"/>
                </a:solidFill>
                <a:latin typeface="Aptos"/>
              </a:defRPr>
            </a:pPr>
            <a:r>
              <a:t>Clinical variables contain predictive signal.</a:t>
            </a:r>
          </a:p>
          <a:p>
            <a:pPr>
              <a:spcAft>
                <a:spcPts val="1200"/>
              </a:spcAft>
              <a:defRPr sz="1900" b="0">
                <a:solidFill>
                  <a:srgbClr val="301C3F"/>
                </a:solidFill>
                <a:latin typeface="Aptos"/>
              </a:defRPr>
            </a:pPr>
            <a:r>
              <a:t>Tuning improved the selected model.</a:t>
            </a:r>
          </a:p>
        </p:txBody>
      </p:sp>
      <p:sp>
        <p:nvSpPr>
          <p:cNvPr id="14" name="Rounded Rectangle 13"/>
          <p:cNvSpPr/>
          <p:nvPr/>
        </p:nvSpPr>
        <p:spPr>
          <a:xfrm>
            <a:off x="6163056" y="2423160"/>
            <a:ext cx="5330952"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2423160"/>
            <a:ext cx="77724" cy="320040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2624328"/>
            <a:ext cx="4855464" cy="594360"/>
          </a:xfrm>
          <a:prstGeom prst="rect">
            <a:avLst/>
          </a:prstGeom>
          <a:noFill/>
        </p:spPr>
        <p:txBody>
          <a:bodyPr wrap="square">
            <a:spAutoFit/>
          </a:bodyPr>
          <a:lstStyle/>
          <a:p>
            <a:pPr>
              <a:spcAft>
                <a:spcPts val="1200"/>
              </a:spcAft>
              <a:defRPr sz="2200" b="1">
                <a:solidFill>
                  <a:srgbClr val="D13A8B"/>
                </a:solidFill>
                <a:latin typeface="Aptos"/>
              </a:defRPr>
            </a:pPr>
            <a:r>
              <a:t>WHAT IS STILL NEEDED</a:t>
            </a:r>
          </a:p>
        </p:txBody>
      </p:sp>
      <p:sp>
        <p:nvSpPr>
          <p:cNvPr id="17" name="TextBox 16"/>
          <p:cNvSpPr txBox="1"/>
          <p:nvPr/>
        </p:nvSpPr>
        <p:spPr>
          <a:xfrm>
            <a:off x="6409944" y="3337560"/>
            <a:ext cx="4873752" cy="2240280"/>
          </a:xfrm>
          <a:prstGeom prst="rect">
            <a:avLst/>
          </a:prstGeom>
          <a:noFill/>
        </p:spPr>
        <p:txBody>
          <a:bodyPr wrap="square">
            <a:spAutoFit/>
          </a:bodyPr>
          <a:lstStyle/>
          <a:p>
            <a:pPr>
              <a:spcAft>
                <a:spcPts val="1200"/>
              </a:spcAft>
              <a:defRPr sz="1900" b="0">
                <a:solidFill>
                  <a:srgbClr val="301C3F"/>
                </a:solidFill>
                <a:latin typeface="Aptos"/>
              </a:defRPr>
            </a:pPr>
            <a:r>
              <a:t>External validation</a:t>
            </a:r>
          </a:p>
          <a:p>
            <a:pPr>
              <a:spcAft>
                <a:spcPts val="1200"/>
              </a:spcAft>
              <a:defRPr sz="1900" b="0">
                <a:solidFill>
                  <a:srgbClr val="301C3F"/>
                </a:solidFill>
                <a:latin typeface="Aptos"/>
              </a:defRPr>
            </a:pPr>
            <a:r>
              <a:t>Fairness checks</a:t>
            </a:r>
          </a:p>
          <a:p>
            <a:pPr>
              <a:spcAft>
                <a:spcPts val="1200"/>
              </a:spcAft>
              <a:defRPr sz="1900" b="0">
                <a:solidFill>
                  <a:srgbClr val="301C3F"/>
                </a:solidFill>
                <a:latin typeface="Aptos"/>
              </a:defRPr>
            </a:pPr>
            <a:r>
              <a:t>Calibration and clinician review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D13A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058400" cy="320040"/>
          </a:xfrm>
          <a:prstGeom prst="rect">
            <a:avLst/>
          </a:prstGeom>
          <a:noFill/>
        </p:spPr>
        <p:txBody>
          <a:bodyPr wrap="square">
            <a:spAutoFit/>
          </a:bodyPr>
          <a:lstStyle/>
          <a:p>
            <a:pPr>
              <a:spcAft>
                <a:spcPts val="1200"/>
              </a:spcAft>
              <a:defRPr sz="1200" b="1">
                <a:solidFill>
                  <a:srgbClr val="D13A8B"/>
                </a:solidFill>
                <a:latin typeface="Aptos"/>
              </a:defRPr>
            </a:pPr>
            <a:r>
              <a:t>THANK YOU</a:t>
            </a:r>
          </a:p>
        </p:txBody>
      </p:sp>
      <p:sp>
        <p:nvSpPr>
          <p:cNvPr id="5" name="TextBox 4"/>
          <p:cNvSpPr txBox="1"/>
          <p:nvPr/>
        </p:nvSpPr>
        <p:spPr>
          <a:xfrm>
            <a:off x="594360" y="749808"/>
            <a:ext cx="10972800" cy="914400"/>
          </a:xfrm>
          <a:prstGeom prst="rect">
            <a:avLst/>
          </a:prstGeom>
          <a:noFill/>
        </p:spPr>
        <p:txBody>
          <a:bodyPr wrap="square">
            <a:spAutoFit/>
          </a:bodyPr>
          <a:lstStyle/>
          <a:p>
            <a:pPr>
              <a:spcAft>
                <a:spcPts val="1200"/>
              </a:spcAft>
              <a:defRPr sz="3400" b="1">
                <a:solidFill>
                  <a:srgbClr val="301C3F"/>
                </a:solidFill>
                <a:latin typeface="Aptos"/>
              </a:defRPr>
            </a:pPr>
            <a:r>
              <a:t>What I take away</a:t>
            </a:r>
          </a:p>
        </p:txBody>
      </p:sp>
      <p:sp>
        <p:nvSpPr>
          <p:cNvPr id="6" name="TextBox 5"/>
          <p:cNvSpPr txBox="1"/>
          <p:nvPr/>
        </p:nvSpPr>
        <p:spPr>
          <a:xfrm>
            <a:off x="640080" y="1609344"/>
            <a:ext cx="10881360" cy="594360"/>
          </a:xfrm>
          <a:prstGeom prst="rect">
            <a:avLst/>
          </a:prstGeom>
          <a:noFill/>
        </p:spPr>
        <p:txBody>
          <a:bodyPr wrap="square">
            <a:spAutoFit/>
          </a:bodyPr>
          <a:lstStyle/>
          <a:p>
            <a:pPr>
              <a:spcAft>
                <a:spcPts val="1200"/>
              </a:spcAft>
              <a:defRPr sz="1700" b="0">
                <a:solidFill>
                  <a:srgbClr val="65556C"/>
                </a:solidFill>
                <a:latin typeface="Aptos"/>
              </a:defRPr>
            </a:pPr>
            <a:r>
              <a:t>Machine learning can reveal useful patterns — but context and evaluation matter.</a:t>
            </a:r>
          </a:p>
        </p:txBody>
      </p:sp>
      <p:sp>
        <p:nvSpPr>
          <p:cNvPr id="7" name="Rectangle 6"/>
          <p:cNvSpPr/>
          <p:nvPr/>
        </p:nvSpPr>
        <p:spPr>
          <a:xfrm>
            <a:off x="640080" y="6510528"/>
            <a:ext cx="10908792" cy="13716"/>
          </a:xfrm>
          <a:prstGeom prst="rect">
            <a:avLst/>
          </a:prstGeom>
          <a:solidFill>
            <a:srgbClr val="EAC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556248"/>
            <a:ext cx="7315200" cy="182880"/>
          </a:xfrm>
          <a:prstGeom prst="rect">
            <a:avLst/>
          </a:prstGeom>
          <a:noFill/>
        </p:spPr>
        <p:txBody>
          <a:bodyPr wrap="square">
            <a:spAutoFit/>
          </a:bodyPr>
          <a:lstStyle/>
          <a:p>
            <a:pPr>
              <a:spcAft>
                <a:spcPts val="1200"/>
              </a:spcAft>
              <a:defRPr sz="1000" b="0">
                <a:solidFill>
                  <a:srgbClr val="65556C"/>
                </a:solidFill>
                <a:latin typeface="Aptos"/>
              </a:defRPr>
            </a:pPr>
            <a:r>
              <a:t>FATMA ÇAKIR  •  HEART DISEASE PREDICTION</a:t>
            </a:r>
          </a:p>
        </p:txBody>
      </p:sp>
      <p:sp>
        <p:nvSpPr>
          <p:cNvPr id="9" name="TextBox 8"/>
          <p:cNvSpPr txBox="1"/>
          <p:nvPr/>
        </p:nvSpPr>
        <p:spPr>
          <a:xfrm>
            <a:off x="11018520" y="6556248"/>
            <a:ext cx="457200" cy="182880"/>
          </a:xfrm>
          <a:prstGeom prst="rect">
            <a:avLst/>
          </a:prstGeom>
          <a:noFill/>
        </p:spPr>
        <p:txBody>
          <a:bodyPr wrap="square">
            <a:spAutoFit/>
          </a:bodyPr>
          <a:lstStyle/>
          <a:p>
            <a:pPr>
              <a:spcAft>
                <a:spcPts val="1200"/>
              </a:spcAft>
              <a:defRPr sz="1000" b="0">
                <a:solidFill>
                  <a:srgbClr val="65556C"/>
                </a:solidFill>
                <a:latin typeface="Aptos"/>
              </a:defRPr>
            </a:pPr>
            <a:r>
              <a:t>10</a:t>
            </a:r>
          </a:p>
        </p:txBody>
      </p:sp>
      <p:sp>
        <p:nvSpPr>
          <p:cNvPr id="10" name="Rounded Rectangle 9"/>
          <p:cNvSpPr/>
          <p:nvPr/>
        </p:nvSpPr>
        <p:spPr>
          <a:xfrm>
            <a:off x="731520" y="2468880"/>
            <a:ext cx="10735056" cy="2331720"/>
          </a:xfrm>
          <a:prstGeom prst="roundRect">
            <a:avLst/>
          </a:prstGeom>
          <a:solidFill>
            <a:srgbClr val="662E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16352"/>
            <a:ext cx="9875520" cy="960120"/>
          </a:xfrm>
          <a:prstGeom prst="rect">
            <a:avLst/>
          </a:prstGeom>
          <a:noFill/>
        </p:spPr>
        <p:txBody>
          <a:bodyPr wrap="square">
            <a:spAutoFit/>
          </a:bodyPr>
          <a:lstStyle/>
          <a:p>
            <a:pPr algn="ctr">
              <a:spcAft>
                <a:spcPts val="1200"/>
              </a:spcAft>
              <a:defRPr sz="3300" b="1">
                <a:solidFill>
                  <a:srgbClr val="FFFFFF"/>
                </a:solidFill>
                <a:latin typeface="Aptos"/>
              </a:defRPr>
            </a:pPr>
            <a:r>
              <a:t>89.1% accuracy  •  94.1% recall</a:t>
            </a:r>
          </a:p>
        </p:txBody>
      </p:sp>
      <p:sp>
        <p:nvSpPr>
          <p:cNvPr id="12" name="TextBox 11"/>
          <p:cNvSpPr txBox="1"/>
          <p:nvPr/>
        </p:nvSpPr>
        <p:spPr>
          <a:xfrm>
            <a:off x="1051560" y="3986784"/>
            <a:ext cx="9966960" cy="411480"/>
          </a:xfrm>
          <a:prstGeom prst="rect">
            <a:avLst/>
          </a:prstGeom>
          <a:noFill/>
        </p:spPr>
        <p:txBody>
          <a:bodyPr wrap="square">
            <a:spAutoFit/>
          </a:bodyPr>
          <a:lstStyle/>
          <a:p>
            <a:pPr algn="ctr">
              <a:spcAft>
                <a:spcPts val="1200"/>
              </a:spcAft>
              <a:defRPr sz="1900" b="0">
                <a:solidFill>
                  <a:srgbClr val="F6D9EF"/>
                </a:solidFill>
                <a:latin typeface="Aptos"/>
              </a:defRPr>
            </a:pPr>
            <a:r>
              <a:t>A strong classroom result, with important limitations</a:t>
            </a:r>
          </a:p>
        </p:txBody>
      </p:sp>
      <p:sp>
        <p:nvSpPr>
          <p:cNvPr id="13" name="TextBox 12"/>
          <p:cNvSpPr txBox="1"/>
          <p:nvPr/>
        </p:nvSpPr>
        <p:spPr>
          <a:xfrm>
            <a:off x="1005840" y="5257800"/>
            <a:ext cx="10149840" cy="640080"/>
          </a:xfrm>
          <a:prstGeom prst="rect">
            <a:avLst/>
          </a:prstGeom>
          <a:noFill/>
        </p:spPr>
        <p:txBody>
          <a:bodyPr wrap="square">
            <a:spAutoFit/>
          </a:bodyPr>
          <a:lstStyle/>
          <a:p>
            <a:pPr algn="ctr">
              <a:spcAft>
                <a:spcPts val="1200"/>
              </a:spcAft>
              <a:defRPr sz="2400" b="1">
                <a:solidFill>
                  <a:srgbClr val="D13A8B"/>
                </a:solidFill>
                <a:latin typeface="Aptos"/>
              </a:defRPr>
            </a:pPr>
            <a:r>
              <a:t>Fatma Çakir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